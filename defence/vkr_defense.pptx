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8" r:id="rId11"/>
    <p:sldId id="264" r:id="rId12"/>
    <p:sldId id="265" r:id="rId13"/>
    <p:sldId id="270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84"/>
    <p:restoredTop sz="94610"/>
  </p:normalViewPr>
  <p:slideViewPr>
    <p:cSldViewPr snapToGrid="0" snapToObjects="1">
      <p:cViewPr varScale="1">
        <p:scale>
          <a:sx n="201" d="100"/>
          <a:sy n="201" d="100"/>
        </p:scale>
        <p:origin x="20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6671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AD0F-19D8-085D-51E9-705D8B438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E67355-D05E-1F8F-76D4-1C1A691D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EF3B6-3832-C12A-13D8-E9C763433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0967F-26DE-837E-F8D9-0069B4B844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0222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2748-BAE1-6FB3-AA42-092E6DA2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EB8FDA-FE14-7104-15BB-DE524607E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808FA-BC89-02CB-5EF6-429AD6D14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E2C02-5D2F-C9AF-3FBA-896CDF070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34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6B6-285A-1971-FE6D-AD0AA0B1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433C2-64E5-411C-038D-40361C693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F6150-D678-BC88-86CD-8C160A24B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F45BE-2625-641E-A540-B5FA2EE080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8223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vaTechoPark/mifi-vk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НИЯУ МИФИ · Институт интеллектуальных кибернетических систем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Кафедра «Машинное обучение»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и применение композитных векторных представлений текста для многоклассовой классификации текстов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магистра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649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 01.04.02 «Прикладная математика и информатика». Программа: Машинное обучение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Пападык Всеволод Дмитриевич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</a:t>
            </a:r>
            <a:r>
              <a:rPr lang="ru-RU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Золотарев Александр Маркович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Москва · 15 июня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темы и проблематика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документооборот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000"/>
              </a:lnSpc>
            </a:pP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электронная почта, но разные ответственные за письма. М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аршрутизация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писем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подразделениям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рутинная задача, которая становится узким местом и блокирует работу. </a:t>
            </a:r>
          </a:p>
          <a:p>
            <a:pPr marL="0" indent="0">
              <a:lnSpc>
                <a:spcPts val="2000"/>
              </a:lnSpc>
              <a:buNone/>
            </a:pPr>
            <a:endParaRPr lang="ru-RU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Деловая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переписка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длинные тексты на русском, с типовыми деловыми оборотами, аббревиатурами и сильным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дисбалансом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подразделениям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u-RU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000"/>
              </a:lnSpc>
              <a:buNone/>
            </a:pPr>
            <a:endParaRPr lang="ru-RU" sz="1300" dirty="0"/>
          </a:p>
          <a:p>
            <a:pPr marL="0" indent="0">
              <a:lnSpc>
                <a:spcPts val="2000"/>
              </a:lnSpc>
              <a:buNone/>
            </a:pPr>
            <a:r>
              <a:rPr lang="ru-RU" sz="130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Предобученные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модели классификации не адаптированы к доменной области и специфике документов. Ничего не известно про подразделения компании.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760720" y="1005840"/>
            <a:ext cx="3017520" cy="356616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BE5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7" name="Text 5"/>
          <p:cNvSpPr/>
          <p:nvPr/>
        </p:nvSpPr>
        <p:spPr>
          <a:xfrm>
            <a:off x="594360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увеличивается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2331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0B5394"/>
                </a:solidFill>
                <a:latin typeface="Calibri" pitchFamily="34" charset="0"/>
                <a:cs typeface="Calibri" pitchFamily="34" charset="-120"/>
              </a:rPr>
              <a:t>человеческий ресурс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уменьшается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94360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эффективное решение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0" y="3886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2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распространение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еще не повсеместное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работы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96012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и исследовать пайплайн многоклассовой классификации длинных русскоязычных деловых писем на основе классических, нейросетевых, эмбеддинговых и композитных представлений текста.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5328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данные, оценить распределение классов, длину текстов, дубликаты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9718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baseline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BERT-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подходы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Sentence-BERT)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447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композитные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представления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+ BERT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дообученным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эмбеддером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8862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предобработки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данных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обучения всех моделей классификации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3434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3616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подходы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macro F1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фиксированном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датасете(готовиться объяснить почему выбраны эти метрики)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 и характеристика данных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Формальная постановка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 множество писем D = {d</a:t>
            </a:r>
            <a:r>
              <a:rPr lang="en-US" sz="12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}, каждому соответствует класс y</a:t>
            </a:r>
            <a:r>
              <a:rPr lang="en-US" sz="12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{1,…,K}, K = 36.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Найти: классификатор f: d → ŷ, максимизирующий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и macro F1 на отложенной выборке.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фиксированное train/test-разбиение; тестовые тексты не участвуют ни в обучении, ни в аугментации.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6072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датасета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760720" y="13716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корпоративные письма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901952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9019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русский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2432304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24323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подразделений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2962656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66560" y="2962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единиц до сотен документов в классе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720" y="349300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34930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десятков тысяч токенов — превышает 512 BERT-токенов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402336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accuracy, macro F1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пайплайна обработки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Модульный пайплайн: каждый этап изолирован </a:t>
            </a:r>
            <a:r>
              <a:rPr lang="en-US" sz="1200" i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заменяем</a:t>
            </a:r>
            <a:r>
              <a:rPr lang="ru-RU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Можно обучиться на другом датасете без правок.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Очистка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дедупликация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5400000">
            <a:off x="193852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9" name="Shape 7"/>
          <p:cNvSpPr/>
          <p:nvPr/>
        </p:nvSpPr>
        <p:spPr>
          <a:xfrm>
            <a:off x="210312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перефразирование,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</a:t>
            </a:r>
            <a:r>
              <a:rPr lang="ru-RU" sz="10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атный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перевод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rot="5400000">
            <a:off x="367588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BERT, Sentence-BERT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rot="5400000">
            <a:off x="541324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7" name="Shape 15"/>
          <p:cNvSpPr/>
          <p:nvPr/>
        </p:nvSpPr>
        <p:spPr>
          <a:xfrm>
            <a:off x="557784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BERT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5060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LinearSVC, LogReg,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MLP, Cosine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Реализация: Python, scikit-learn, HuggingFace Transformers, PyTorch. Все эксперименты воспроизводимы из репозитория.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линейные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на n-граммах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0317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9461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BERT-классификатор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9461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ruBERT, ruRoberta-large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4058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3202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3202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доменных эмбеддингах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7799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6943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пространство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6943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дообученный BERT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Предобработка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аугментация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подготовить чистые, сбалансированные данные для обучения, не «протекая» в тест.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4114800" cy="32461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Очистка и нормализация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HTML, подписей, дубликатов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регистра и пунктуации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устранение пересечений train/test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обрезка по длине для BERT-моделей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Зафиксированное разбиение. Тестовые тексты не используются ни при обучении, ни при аугментации, ни при дообучении эмбеддера.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114800" cy="32461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Текстовая аугментация (только train)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Перефразирование</a:t>
            </a: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нейросетевое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переписывание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формулировок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редких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через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ruT5-large-paraphraser.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Обратный перевод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 →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es/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ru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OPUS-MT; сохраняет смысл, меняет лексику.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увеличить вариативность редких классов и выровнять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lnSpc>
                <a:spcPts val="1600"/>
              </a:lnSpc>
            </a:pPr>
            <a:endParaRPr lang="en-US" sz="1100" b="1" dirty="0">
              <a:solidFill>
                <a:srgbClr val="0B539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ts val="1600"/>
              </a:lnSpc>
            </a:pPr>
            <a:r>
              <a:rPr lang="ru-RU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 увеличение</a:t>
            </a: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1404 до 2158 документов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3109E-0419-C383-482D-605BD8BF6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DD257F-E0B4-4013-0A1C-BA6F63C9542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3942E3-98DB-19F3-931A-F121DE28DC25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Суммаризация</a:t>
            </a:r>
            <a:endParaRPr lang="en-US" sz="2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7161B29-8D29-41E4-DF78-B7E872CC10A1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Rectangle 13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300" b="1" i="0">
                <a:solidFill>
                  <a:srgbClr val="0B5394"/>
                </a:solidFill>
                <a:latin typeface="Calibri"/>
              </a:rPr>
              <a:t>Задача: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проверить, помогает ли сжатие текста до главной мысли, и подготовить альтернативные обучающие выборки.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400" b="1" i="0">
                <a:solidFill>
                  <a:srgbClr val="0B5394"/>
                </a:solidFill>
                <a:latin typeface="Calibri"/>
              </a:rPr>
              <a:t>Подход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83080"/>
            <a:ext cx="4937760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модель rut5_base_sum_gazeta (T5, дообучена на корпусе «Газета.Ru»)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beam search; вход до 600 токенов, выжимка 30–128 токенов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две версии датасета: замена текста на summary и конкатенация original ⊕ summary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обе версии подаются как train в TF-IDF, BERT-классификатор и эмбеддинги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554480"/>
            <a:ext cx="3200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r>
              <a:rPr lang="ru-RU" sz="1300" b="1" dirty="0">
                <a:solidFill>
                  <a:srgbClr val="0B5394"/>
                </a:solidFill>
              </a:rPr>
              <a:t>Лучшие результаты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8010" y="2080260"/>
            <a:ext cx="3200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200" b="1" i="0" dirty="0">
                <a:solidFill>
                  <a:srgbClr val="0B5394"/>
                </a:solidFill>
                <a:latin typeface="Calibri"/>
              </a:rPr>
              <a:t>0.482 / 0.497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8010" y="2720340"/>
            <a:ext cx="3200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100" b="0" i="0" dirty="0">
                <a:solidFill>
                  <a:srgbClr val="5C5C5C"/>
                </a:solidFill>
                <a:latin typeface="Calibri"/>
              </a:rPr>
              <a:t>BASELINE </a:t>
            </a:r>
            <a:r>
              <a:rPr sz="1100" b="0" i="0" dirty="0" err="1">
                <a:solidFill>
                  <a:srgbClr val="5C5C5C"/>
                </a:solidFill>
                <a:latin typeface="Calibri"/>
              </a:rPr>
              <a:t>на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 original +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8010" y="3131820"/>
            <a:ext cx="3200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200" b="1" i="0" dirty="0">
                <a:solidFill>
                  <a:srgbClr val="0B5394"/>
                </a:solidFill>
                <a:latin typeface="Calibri"/>
              </a:rPr>
              <a:t>0.512 / 0.498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8010" y="3771900"/>
            <a:ext cx="3200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lang="en-US" sz="1100" b="0" i="0" dirty="0">
                <a:solidFill>
                  <a:srgbClr val="5C5C5C"/>
                </a:solidFill>
                <a:latin typeface="Calibri"/>
              </a:rPr>
              <a:t>BERT</a:t>
            </a:r>
            <a:r>
              <a:rPr lang="ru-RU" sz="1100" b="0" i="0" dirty="0">
                <a:solidFill>
                  <a:srgbClr val="5C5C5C"/>
                </a:solidFill>
                <a:latin typeface="Calibri"/>
              </a:rPr>
              <a:t> классификация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5C5C5C"/>
                </a:solidFill>
                <a:latin typeface="Calibri"/>
              </a:rPr>
              <a:t>aug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 +</a:t>
            </a:r>
            <a:r>
              <a:rPr lang="en-US" sz="1100" b="0" i="0" dirty="0">
                <a:solidFill>
                  <a:srgbClr val="5C5C5C"/>
                </a:solidFill>
                <a:latin typeface="Calibri"/>
              </a:rPr>
              <a:t> 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summary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4069080"/>
            <a:ext cx="320040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Замена текста на summary ухудшает все модели; связка original ⊕ summary почти догоняет.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51960"/>
            <a:ext cx="4937760" cy="502920"/>
          </a:xfrm>
          <a:prstGeom prst="rect">
            <a:avLst/>
          </a:prstGeom>
          <a:solidFill>
            <a:srgbClr val="F4F6FA"/>
          </a:solidFill>
          <a:ln>
            <a:solidFill>
              <a:srgbClr val="D6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4315968"/>
            <a:ext cx="47548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100" b="1" i="0">
                <a:solidFill>
                  <a:srgbClr val="0B5394"/>
                </a:solidFill>
                <a:latin typeface="Calibri"/>
              </a:rPr>
              <a:t>Вывод: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короткая выжимка теряет специфическую лексику деловых писем — длинный контекст важен.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AE37F58E-4FEF-31DD-B4D4-E6C947E971A9}"/>
              </a:ext>
            </a:extLst>
          </p:cNvPr>
          <p:cNvSpPr/>
          <p:nvPr/>
        </p:nvSpPr>
        <p:spPr>
          <a:xfrm>
            <a:off x="5666740" y="1889760"/>
            <a:ext cx="320167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r>
              <a:rPr lang="en-US" sz="1300" b="1" dirty="0">
                <a:solidFill>
                  <a:srgbClr val="0B5394"/>
                </a:solidFill>
              </a:rPr>
              <a:t>balanced accuracy / macro F1</a:t>
            </a:r>
            <a:endParaRPr lang="ru-RU" sz="1300" b="1" dirty="0">
              <a:solidFill>
                <a:srgbClr val="0B53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642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сильную базовую линию на классических признаках.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 и char-n-граммы (объединённое признаковое пространство)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линейные модели: LinearSVC, LogisticRegression, RidgeClassifier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class_weight=balanced для компенсации дисбаланса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эталон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TF-IDF + линейные классификаторы для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деловых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просадка метрик на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аугментированном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наборе объясняется тем, что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train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модель чаще предсказывала популярные классы, а на аугментации предсказания размазаны, ведь примеров на 754 документа больше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train.csv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train_augmented.csv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79" y="1965960"/>
            <a:ext cx="3174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0.534 / 0.489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 / 0.486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692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(LinearSVC, n-граммы)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линейные модели остаются конкурентоспособной базовой линией.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классификационной головой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плотные контекстные представления и доменную адаптацию.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Реализованные подходы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500"/>
              </a:spcAft>
              <a:buSzPct val="100000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 с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классификационной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головой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на токене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mean-pooling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 скрытым состояниям с учетом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attention-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</a:t>
            </a:r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chunkmean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длинных документов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 режется на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перекрытием,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внутри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чанка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усредняются, потом усредняются между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чанками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7A2D636E-C3C3-8029-EE56-F32B18F2F8CE}"/>
              </a:ext>
            </a:extLst>
          </p:cNvPr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FB42272-FE90-A9A6-D186-7C48B115CE8C}"/>
              </a:ext>
            </a:extLst>
          </p:cNvPr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train.csv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train_augmented.csv</a:t>
            </a:r>
            <a:endParaRPr lang="en-US" sz="1300" dirty="0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E103425-E579-EEB5-20A0-279812DEBBCB}"/>
              </a:ext>
            </a:extLst>
          </p:cNvPr>
          <p:cNvSpPr/>
          <p:nvPr/>
        </p:nvSpPr>
        <p:spPr>
          <a:xfrm>
            <a:off x="5669279" y="1965960"/>
            <a:ext cx="3174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0.454 / 0.501</a:t>
            </a:r>
            <a:endParaRPr lang="en-US" sz="44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4473758C-0E42-54EE-A23C-B000979F39BC}"/>
              </a:ext>
            </a:extLst>
          </p:cNvPr>
          <p:cNvSpPr/>
          <p:nvPr/>
        </p:nvSpPr>
        <p:spPr>
          <a:xfrm>
            <a:off x="5669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840FD6BD-3542-3AEF-336B-972AEC1D70CA}"/>
              </a:ext>
            </a:extLst>
          </p:cNvPr>
          <p:cNvSpPr/>
          <p:nvPr/>
        </p:nvSpPr>
        <p:spPr>
          <a:xfrm>
            <a:off x="566928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0.443 / 0.504</a:t>
            </a:r>
            <a:endParaRPr lang="en-US" sz="3600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DE0B774F-6CAD-E5D1-1E44-ADC6487CB3AD}"/>
              </a:ext>
            </a:extLst>
          </p:cNvPr>
          <p:cNvSpPr/>
          <p:nvPr/>
        </p:nvSpPr>
        <p:spPr>
          <a:xfrm>
            <a:off x="56692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1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825E2069-8FD0-774B-D4ED-FAC39D2AD61F}"/>
              </a:ext>
            </a:extLst>
          </p:cNvPr>
          <p:cNvSpPr/>
          <p:nvPr/>
        </p:nvSpPr>
        <p:spPr>
          <a:xfrm>
            <a:off x="56692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 помогла </a:t>
            </a: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классификатору. Лучший результат на </a:t>
            </a:r>
            <a:r>
              <a:rPr lang="en-US" sz="1000" i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 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</a:t>
            </a:r>
            <a:r>
              <a:rPr lang="en-US" sz="1000" i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chunkmean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-головой и аугментацией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C96790-7A19-5E7E-A57C-B35128B5D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81FF36C-C4FB-5B85-CC87-2807E07A89A1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61F4DC-E08B-01C4-93CB-3BC0C21CD5A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</a:t>
            </a:r>
            <a:r>
              <a:rPr lang="ru-RU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эмбедингах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Sentence-BERT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553FE63-8A56-F6EB-B4CD-DD61EA4E5228}"/>
              </a:ext>
            </a:extLst>
          </p:cNvPr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плотные контекстные представления и доменную адаптацию.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FBCCB2-CEE7-A6CA-ED7E-2C68E474B654}"/>
              </a:ext>
            </a:extLst>
          </p:cNvPr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Реализованные подходы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680114-68E6-9D8A-00AA-21FDFF4522E7}"/>
              </a:ext>
            </a:extLst>
          </p:cNvPr>
          <p:cNvSpPr/>
          <p:nvPr/>
        </p:nvSpPr>
        <p:spPr>
          <a:xfrm>
            <a:off x="365760" y="17830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 для извлечения эмбеддингов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адаптация эмбеддера на train (custom-эмбеддер)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Cosine-Centroid: классификация по близости к центроиду класса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AF5AFF2-DAB8-4E15-FB18-59304BB3FCF6}"/>
              </a:ext>
            </a:extLst>
          </p:cNvPr>
          <p:cNvSpPr/>
          <p:nvPr/>
        </p:nvSpPr>
        <p:spPr>
          <a:xfrm>
            <a:off x="5486400" y="1463040"/>
            <a:ext cx="3465768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7F0FAE-2EB0-C4FE-0225-65C93E95D92C}"/>
              </a:ext>
            </a:extLst>
          </p:cNvPr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результат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951BE6B-6A71-7917-5A0D-710A33AD3FA6}"/>
              </a:ext>
            </a:extLst>
          </p:cNvPr>
          <p:cNvSpPr/>
          <p:nvPr/>
        </p:nvSpPr>
        <p:spPr>
          <a:xfrm>
            <a:off x="56692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0.578</a:t>
            </a:r>
            <a:endParaRPr lang="en-US" sz="4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8AB7339-0679-B207-45B8-ED64C3FDF3C7}"/>
              </a:ext>
            </a:extLst>
          </p:cNvPr>
          <p:cNvSpPr/>
          <p:nvPr/>
        </p:nvSpPr>
        <p:spPr>
          <a:xfrm>
            <a:off x="56692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A8B4A8C-C5D9-D60B-BA42-4F5B9AF5B593}"/>
              </a:ext>
            </a:extLst>
          </p:cNvPr>
          <p:cNvSpPr/>
          <p:nvPr/>
        </p:nvSpPr>
        <p:spPr>
          <a:xfrm>
            <a:off x="5669280" y="28163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на дообученных эмбеддингах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6C2D248-7A82-0D08-B26C-2A811F604A02}"/>
              </a:ext>
            </a:extLst>
          </p:cNvPr>
          <p:cNvSpPr/>
          <p:nvPr/>
        </p:nvSpPr>
        <p:spPr>
          <a:xfrm>
            <a:off x="5669280" y="3337560"/>
            <a:ext cx="2926080" cy="18288"/>
          </a:xfrm>
          <a:prstGeom prst="rect">
            <a:avLst/>
          </a:prstGeom>
          <a:solidFill>
            <a:srgbClr val="D6DBE5"/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0FA0CF9-F451-5F97-3A0F-2E9E23D16DD0}"/>
              </a:ext>
            </a:extLst>
          </p:cNvPr>
          <p:cNvSpPr/>
          <p:nvPr/>
        </p:nvSpPr>
        <p:spPr>
          <a:xfrm>
            <a:off x="5669280" y="34747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ru-RU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«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коробки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дают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0.2 balanced accuracy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F1.</a:t>
            </a:r>
            <a:endParaRPr lang="en-US" sz="1100" dirty="0"/>
          </a:p>
          <a:p>
            <a:pPr>
              <a:lnSpc>
                <a:spcPts val="1500"/>
              </a:lnSpc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доменной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адаптации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0.5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F1.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0A857B-39D6-CE53-8E4B-586056FFB49A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FAD12574-2FF1-040E-AEDB-E61F8DE3B91E}"/>
              </a:ext>
            </a:extLst>
          </p:cNvPr>
          <p:cNvSpPr/>
          <p:nvPr/>
        </p:nvSpPr>
        <p:spPr>
          <a:xfrm>
            <a:off x="5669280" y="2583181"/>
            <a:ext cx="3108960" cy="251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абсолютный максимум работы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807952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Композитные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представления TF-IDF ⊕ BERT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объединить лексические и контекстные признаки и оценить эффект.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char n-граммы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разреженный вектор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1460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880360" y="150876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(custom)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доменно адаптированный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эмбеддер, плотный вектор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rot="5400000">
            <a:off x="5349240" y="1783080"/>
            <a:ext cx="182880" cy="182880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0" y="1508760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Hybrid-вектор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</a:t>
            </a:r>
            <a:r>
              <a:rPr lang="ru-RU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Ridge/ LogReg / MLP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4114800" cy="192024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на hybrid (custom)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0632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54864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абсолютный максимум работы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+ дообученный эмбеддер дают лучший общий баланс точности и полноты.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697480"/>
            <a:ext cx="4114800" cy="1920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на hybrid (custom)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84632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почти максимум, при простоте линейной модели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Минимальный разрыв с MLP: при сильных признаках сложный классификатор почти не нужен.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Сводное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подходов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маскированных данных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конфигурации по каждой метрике, train/test без аугментации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41248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Подход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Признаки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Cosine-Centroid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центроид + cosine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(n-граммы)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023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лидера зависит от метрики.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 accuracy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(0.578).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Hybrid + дообученный эмбеддер (0.543).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F4927-CCEE-82A9-82F3-D4F3A19C2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699AC0-2DB3-F429-6E92-A73BD8447EFD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8F3F62-537E-00B2-8C06-7E5B3E138DD0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Сводное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подходов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закрытых данных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896C408-59C1-9DBD-5192-B10731934532}"/>
              </a:ext>
            </a:extLst>
          </p:cNvPr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конфигурации по каждой метрике, train/test без аугментации</a:t>
            </a:r>
            <a:endParaRPr lang="en-US" sz="1200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15E484B0-EA91-33FA-9322-D110A4D5EC19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371600"/>
          <a:ext cx="841248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Подход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Признаки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Cosine-Centroid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центроид + cosine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(n-граммы)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246732AC-3FD1-0349-DB2F-996DA1E5D52F}"/>
              </a:ext>
            </a:extLst>
          </p:cNvPr>
          <p:cNvSpPr/>
          <p:nvPr/>
        </p:nvSpPr>
        <p:spPr>
          <a:xfrm>
            <a:off x="365760" y="3931920"/>
            <a:ext cx="841248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BDDA90F-03D4-4EFE-CF99-F64BA7D12F53}"/>
              </a:ext>
            </a:extLst>
          </p:cNvPr>
          <p:cNvSpPr/>
          <p:nvPr/>
        </p:nvSpPr>
        <p:spPr>
          <a:xfrm>
            <a:off x="548640" y="4023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лидера зависит от метрики.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 accuracy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(0.578).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Hybrid + дообученный эмбеддер (0.543).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9699D28-D014-A260-2A8E-1F269EF4145C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07438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Выводы. Цель достигнута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77724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 воспроизводимый пайплайн классификации длинных русскоязычных деловых писем; реализованы и сравнены TF-IDF, BERT и композитные представления; получены метрики на единой выборке.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4884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10312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признаков важнее сложности модели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56032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сильных признаках LinearSVC почти не уступает MLP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40580" y="196596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23460" y="214884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3" name="Text 11"/>
          <p:cNvSpPr/>
          <p:nvPr/>
        </p:nvSpPr>
        <p:spPr>
          <a:xfrm>
            <a:off x="48234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26380" y="210312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адаптация — ключ к BERT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26380" y="256032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неё BERT-эмбеддинги уступают TF-IDF на узкодоменной задаче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2900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61188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56616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 даёт лучший macro F1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402336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custom BERT — 0.543, абсолютный максимум работы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40580" y="342900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3460" y="361188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48234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6380" y="356616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 и суммаризация не универсальны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6380" y="402336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помогают слабым конфигурациям, ухудшают сильные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значимость и перспективы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значимость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Модульный прототип пайплайна классификации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Применим для маршрутизации корпоративных писем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Категоризация внутренних документов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к расширению за счёт композитных представлений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108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 развития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мощные модели для длинных документов (Longformer)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обучаемые механизмы объединения TF-IDF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005840"/>
            <a:ext cx="2834640" cy="370332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1143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с кодом</a:t>
            </a:r>
            <a:endParaRPr lang="en-US" sz="1300" dirty="0"/>
          </a:p>
        </p:txBody>
      </p:sp>
      <p:pic>
        <p:nvPicPr>
          <p:cNvPr id="10" name="Image 0" descr="/home/user/workspace/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1828800" cy="1828800"/>
          </a:xfrm>
          <a:prstGeom prst="rect">
            <a:avLst/>
          </a:prstGeom>
        </p:spPr>
      </p:pic>
      <p:sp>
        <p:nvSpPr>
          <p:cNvPr id="11" name="Text 8">
            <a:hlinkClick r:id="rId4"/>
          </p:cNvPr>
          <p:cNvSpPr/>
          <p:nvPr/>
        </p:nvSpPr>
        <p:spPr>
          <a:xfrm>
            <a:off x="5943600" y="3474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github.com/sevaTechoPark/mifi-vkr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код, данные и логи экспериментов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0" y="4160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Рис. 1: ссылка на репозиторий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18367</TotalTime>
  <Words>1429</Words>
  <Application>Microsoft Macintosh PowerPoint</Application>
  <PresentationFormat>Экран (16:9)</PresentationFormat>
  <Paragraphs>297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ВКР Пападык В.Д. — защита</dc:title>
  <dc:subject>PptxGenJS Presentation</dc:subject>
  <dc:creator>PptxGenJS</dc:creator>
  <cp:lastModifiedBy>Vsevolod Papadyk</cp:lastModifiedBy>
  <cp:revision>8</cp:revision>
  <dcterms:created xsi:type="dcterms:W3CDTF">2026-05-30T09:41:16Z</dcterms:created>
  <dcterms:modified xsi:type="dcterms:W3CDTF">2026-06-12T09:18:18Z</dcterms:modified>
</cp:coreProperties>
</file>