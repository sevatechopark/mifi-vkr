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63" r:id="rId10"/>
    <p:sldId id="268" r:id="rId11"/>
    <p:sldId id="264" r:id="rId12"/>
    <p:sldId id="265" r:id="rId13"/>
    <p:sldId id="270" r:id="rId14"/>
    <p:sldId id="266" r:id="rId15"/>
    <p:sldId id="267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463"/>
    <p:restoredTop sz="94610"/>
  </p:normalViewPr>
  <p:slideViewPr>
    <p:cSldViewPr snapToGrid="0" snapToObjects="1">
      <p:cViewPr varScale="1">
        <p:scale>
          <a:sx n="206" d="100"/>
          <a:sy n="206" d="100"/>
        </p:scale>
        <p:origin x="17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6671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2AD0F-19D8-085D-51E9-705D8B438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E67355-D05E-1F8F-76D4-1C1A691D8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5EF3B6-3832-C12A-13D8-E9C763433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0967F-26DE-837E-F8D9-0069B4B844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0222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32748-BAE1-6FB3-AA42-092E6DA2E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EB8FDA-FE14-7104-15BB-DE524607E3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808FA-BC89-02CB-5EF6-429AD6D14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7E2C02-5D2F-C9AF-3FBA-896CDF070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340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86B6-285A-1971-FE6D-AD0AA0B17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4433C2-64E5-411C-038D-40361C693E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CF6150-D678-BC88-86CD-8C160A24B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CF45BE-2625-641E-A540-B5FA2EE080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8223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evaTechoPark/mifi-vk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НИЯУ МИФИ · Институт интеллектуальных кибернетических систем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6583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Кафедра «Машинное обучение»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и применение композитных векторных представлений текста для многоклассовой классификации текстов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0632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магистра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36499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 01.04.02 «Прикладная математика и информатика». Программа: Машинное обучение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Студент: </a:t>
            </a: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Пападык Всеволод Дмитриевич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4251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</a:t>
            </a:r>
            <a:r>
              <a:rPr lang="ru-RU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Золотарев Александр Маркович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754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Москва · 15 июня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 темы и проблематика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00" name="Card0-bg"/>
          <p:cNvSpPr/>
          <p:nvPr/>
        </p:nvSpPr>
        <p:spPr>
          <a:xfrm>
            <a:off x="365760" y="1100000"/>
            <a:ext cx="2682240" cy="3500000"/>
          </a:xfrm>
          <a:prstGeom prst="roundRect">
            <a:avLst>
              <a:gd name="adj" fmla="val 6500"/>
            </a:avLst>
          </a:prstGeom>
          <a:solidFill>
            <a:srgbClr val="F4F7FB"/>
          </a:solidFill>
          <a:ln w="9525">
            <a:solidFill>
              <a:srgbClr val="D6E4F2"/>
            </a:solidFill>
          </a:ln>
        </p:spPr>
      </p:sp>
      <p:sp>
        <p:nvSpPr>
          <p:cNvPr id="101" name="Card0-num"/>
          <p:cNvSpPr/>
          <p:nvPr/>
        </p:nvSpPr>
        <p:spPr>
          <a:xfrm>
            <a:off x="594360" y="1328600"/>
            <a:ext cx="8000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ru-RU" sz="3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ru-RU" sz="3200" dirty="0"/>
          </a:p>
        </p:txBody>
      </p:sp>
      <p:sp>
        <p:nvSpPr>
          <p:cNvPr id="102" name="Card0-title"/>
          <p:cNvSpPr/>
          <p:nvPr/>
        </p:nvSpPr>
        <p:spPr>
          <a:xfrm>
            <a:off x="594360" y="1900000"/>
            <a:ext cx="222504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ru-RU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Корпоративный документооборот</a:t>
            </a:r>
            <a:endParaRPr lang="ru-RU" sz="1400" dirty="0"/>
          </a:p>
        </p:txBody>
      </p:sp>
      <p:sp>
        <p:nvSpPr>
          <p:cNvPr id="103" name="Card0-body"/>
          <p:cNvSpPr/>
          <p:nvPr/>
        </p:nvSpPr>
        <p:spPr>
          <a:xfrm>
            <a:off x="594360" y="2600000"/>
            <a:ext cx="222504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700"/>
              </a:lnSpc>
              <a:buNone/>
            </a:pP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электронная почта, но разные ответственные за письма. Маршрутизация писем по подразделениям — рутинная задача, которая становится узким местом и блокирует работу.</a:t>
            </a:r>
            <a:endParaRPr lang="ru-RU" sz="1100" dirty="0"/>
          </a:p>
        </p:txBody>
      </p:sp>
      <p:sp>
        <p:nvSpPr>
          <p:cNvPr id="104" name="Card1-bg"/>
          <p:cNvSpPr/>
          <p:nvPr/>
        </p:nvSpPr>
        <p:spPr>
          <a:xfrm>
            <a:off x="3230880" y="1100000"/>
            <a:ext cx="2682240" cy="3500000"/>
          </a:xfrm>
          <a:prstGeom prst="roundRect">
            <a:avLst>
              <a:gd name="adj" fmla="val 6500"/>
            </a:avLst>
          </a:prstGeom>
          <a:solidFill>
            <a:srgbClr val="F4F7FB"/>
          </a:solidFill>
          <a:ln w="9525">
            <a:solidFill>
              <a:srgbClr val="D6E4F2"/>
            </a:solidFill>
          </a:ln>
        </p:spPr>
      </p:sp>
      <p:sp>
        <p:nvSpPr>
          <p:cNvPr id="105" name="Card1-num"/>
          <p:cNvSpPr/>
          <p:nvPr/>
        </p:nvSpPr>
        <p:spPr>
          <a:xfrm>
            <a:off x="3459480" y="1328600"/>
            <a:ext cx="8000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ru-RU" sz="3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ru-RU" sz="3200" dirty="0"/>
          </a:p>
        </p:txBody>
      </p:sp>
      <p:sp>
        <p:nvSpPr>
          <p:cNvPr id="106" name="Card1-title"/>
          <p:cNvSpPr/>
          <p:nvPr/>
        </p:nvSpPr>
        <p:spPr>
          <a:xfrm>
            <a:off x="3459480" y="1900000"/>
            <a:ext cx="222504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ru-RU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Специфика деловой переписки</a:t>
            </a:r>
            <a:endParaRPr lang="ru-RU" sz="1400" dirty="0"/>
          </a:p>
        </p:txBody>
      </p:sp>
      <p:sp>
        <p:nvSpPr>
          <p:cNvPr id="107" name="Card1-body"/>
          <p:cNvSpPr/>
          <p:nvPr/>
        </p:nvSpPr>
        <p:spPr>
          <a:xfrm>
            <a:off x="3459480" y="2600000"/>
            <a:ext cx="222504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700"/>
              </a:lnSpc>
              <a:buNone/>
            </a:pP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Длинные тексты на русском, типовые деловые обороты, аббревиатуры, сильный дисбаланс по подразделениям. Длина писем превышает 512 BERT-токенов.</a:t>
            </a:r>
            <a:endParaRPr lang="ru-RU" sz="1100" dirty="0"/>
          </a:p>
        </p:txBody>
      </p:sp>
      <p:sp>
        <p:nvSpPr>
          <p:cNvPr id="108" name="Card2-bg"/>
          <p:cNvSpPr/>
          <p:nvPr/>
        </p:nvSpPr>
        <p:spPr>
          <a:xfrm>
            <a:off x="6096000" y="1100000"/>
            <a:ext cx="2682240" cy="3500000"/>
          </a:xfrm>
          <a:prstGeom prst="roundRect">
            <a:avLst>
              <a:gd name="adj" fmla="val 6500"/>
            </a:avLst>
          </a:prstGeom>
          <a:solidFill>
            <a:srgbClr val="F4F7FB"/>
          </a:solidFill>
          <a:ln w="9525">
            <a:solidFill>
              <a:srgbClr val="D6E4F2"/>
            </a:solidFill>
          </a:ln>
        </p:spPr>
      </p:sp>
      <p:sp>
        <p:nvSpPr>
          <p:cNvPr id="109" name="Card2-num"/>
          <p:cNvSpPr/>
          <p:nvPr/>
        </p:nvSpPr>
        <p:spPr>
          <a:xfrm>
            <a:off x="6324600" y="1328600"/>
            <a:ext cx="80000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ru-RU" sz="3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ru-RU" sz="3200" dirty="0"/>
          </a:p>
        </p:txBody>
      </p:sp>
      <p:sp>
        <p:nvSpPr>
          <p:cNvPr id="110" name="Card2-title"/>
          <p:cNvSpPr/>
          <p:nvPr/>
        </p:nvSpPr>
        <p:spPr>
          <a:xfrm>
            <a:off x="6324600" y="1900000"/>
            <a:ext cx="2225040" cy="6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ru-RU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Отсутствие доменной адаптации</a:t>
            </a:r>
            <a:endParaRPr lang="ru-RU" sz="1400" dirty="0"/>
          </a:p>
        </p:txBody>
      </p:sp>
      <p:sp>
        <p:nvSpPr>
          <p:cNvPr id="111" name="Card2-body"/>
          <p:cNvSpPr/>
          <p:nvPr/>
        </p:nvSpPr>
        <p:spPr>
          <a:xfrm>
            <a:off x="6324600" y="2600000"/>
            <a:ext cx="2225040" cy="18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marL="0" indent="0">
              <a:lnSpc>
                <a:spcPts val="1700"/>
              </a:lnSpc>
              <a:buNone/>
            </a:pP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Предобученные модели классификации не учитывают терминологию компании и зоны ответственности подразделений. Нужна узкоспециализированная настройка.</a:t>
            </a:r>
            <a:endParaRPr lang="ru-RU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 работы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96012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Разработать и исследовать пайплайн многоклассовой классификации длинных русскоязычных деловых писем на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основе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классических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эмбеддинговых и композитных представлений текста.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5146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25328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Проанализировать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данные, оценить распределение классов, длину текстов, дубликаты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9718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2990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TF-IDF baseline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BERT-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подходы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ruBERT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ruRoberta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-large,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чанкинг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Sentence-BERT)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34290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4472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композитные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представления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TF-IDF + BERT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дообученным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эмбеддером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8862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3886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3904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пайплайн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предобработки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данных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обучения всех моделей классификации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434340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4343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" y="43616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подходы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macro F1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фиксированном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датасете(готовиться объяснить почему выбраны эти метрики)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задачи и характеристика данных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Формальная постановка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5120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Дано: множество писем D = {d</a:t>
            </a:r>
            <a:r>
              <a:rPr lang="ru-RU" sz="1200" baseline="-40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}, метки y</a:t>
            </a:r>
            <a:r>
              <a:rPr lang="ru-RU" sz="1200" baseline="-40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∈ {1,…,K}, K = 36.</a:t>
            </a:r>
            <a:endParaRPr lang="ru-RU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Найти: классификатор f: D → {1,…,K}, максимизирующий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 и macro F1 на отложенной выборке.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фиксированное train/test-разбиение; тестовые тексты не участвуют ни в обучении, ни в аугментации.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760720" y="1005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Характеристики датасета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760720" y="13716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766560" y="13716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корпоративные письма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901952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66560" y="19019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русский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760720" y="2432304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Классов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66560" y="243230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подразделений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60720" y="2962656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Дисбаланс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66560" y="2962656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единиц до сотен документов в классе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760720" y="3493008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Длина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0" y="349300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десятков тысяч токенов — превышает 512 BERT-токенов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402336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66560" y="40233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accuracy, macro F1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hd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202" name="htx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ru-RU" sz="2400" b="1" dirty="0">
                <a:solidFill>
                  <a:srgbClr val="FFFFFF"/>
                </a:solidFill>
                <a:latin typeface="Calibri"/>
              </a:rPr>
              <a:t>Архитектура пайплайна обработки</a:t>
            </a:r>
          </a:p>
        </p:txBody>
      </p:sp>
      <p:sp>
        <p:nvSpPr>
          <p:cNvPr id="203" name="sub"/>
          <p:cNvSpPr/>
          <p:nvPr/>
        </p:nvSpPr>
        <p:spPr>
          <a:xfrm>
            <a:off x="365760" y="870000"/>
            <a:ext cx="8412480" cy="2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100" dirty="0">
                <a:solidFill>
                  <a:srgbClr val="5C5C5C"/>
                </a:solidFill>
                <a:latin typeface="Calibri"/>
              </a:rPr>
              <a:t>Модульный пайплайн: каждый этап изолирован и заменяем. После аугментации — параллельные ветки обучения.</a:t>
            </a:r>
          </a:p>
        </p:txBody>
      </p:sp>
      <p:sp>
        <p:nvSpPr>
          <p:cNvPr id="204" name="pn"/>
          <p:cNvSpPr/>
          <p:nvPr/>
        </p:nvSpPr>
        <p:spPr>
          <a:xfrm>
            <a:off x="8500000" y="4830000"/>
            <a:ext cx="5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r">
              <a:buNone/>
            </a:pPr>
            <a:r>
              <a:rPr lang="ru-RU" sz="900" dirty="0">
                <a:solidFill>
                  <a:srgbClr val="5C5C5C"/>
                </a:solidFill>
                <a:latin typeface="Calibri"/>
              </a:rPr>
              <a:t>5</a:t>
            </a:r>
          </a:p>
        </p:txBody>
      </p:sp>
      <p:sp>
        <p:nvSpPr>
          <p:cNvPr id="205" name="chip0"/>
          <p:cNvSpPr/>
          <p:nvPr/>
        </p:nvSpPr>
        <p:spPr>
          <a:xfrm>
            <a:off x="365760" y="1180000"/>
            <a:ext cx="1750000" cy="600000"/>
          </a:xfrm>
          <a:prstGeom prst="roundRect">
            <a:avLst>
              <a:gd name="adj" fmla="val 10000"/>
            </a:avLst>
          </a:prstGeom>
          <a:solidFill>
            <a:srgbClr val="D6E4F2"/>
          </a:solidFill>
          <a:ln w="9525">
            <a:solidFill>
              <a:srgbClr val="0B5394"/>
            </a:solidFill>
          </a:ln>
        </p:spPr>
      </p:sp>
      <p:sp>
        <p:nvSpPr>
          <p:cNvPr id="206" name="chipt0"/>
          <p:cNvSpPr/>
          <p:nvPr/>
        </p:nvSpPr>
        <p:spPr>
          <a:xfrm>
            <a:off x="365760" y="1260000"/>
            <a:ext cx="175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200" b="1" dirty="0">
                <a:solidFill>
                  <a:srgbClr val="0B5394"/>
                </a:solidFill>
                <a:latin typeface="Calibri"/>
              </a:rPr>
              <a:t>Очистка</a:t>
            </a:r>
          </a:p>
        </p:txBody>
      </p:sp>
      <p:sp>
        <p:nvSpPr>
          <p:cNvPr id="207" name="chips0"/>
          <p:cNvSpPr/>
          <p:nvPr/>
        </p:nvSpPr>
        <p:spPr>
          <a:xfrm>
            <a:off x="365760" y="1500000"/>
            <a:ext cx="1750000" cy="24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900" dirty="0">
                <a:solidFill>
                  <a:srgbClr val="5C5C5C"/>
                </a:solidFill>
                <a:latin typeface="Calibri"/>
              </a:rPr>
              <a:t>HTML, дедуп, норм.</a:t>
            </a:r>
          </a:p>
        </p:txBody>
      </p:sp>
      <p:sp>
        <p:nvSpPr>
          <p:cNvPr id="208" name="a0"/>
          <p:cNvSpPr/>
          <p:nvPr/>
        </p:nvSpPr>
        <p:spPr>
          <a:xfrm>
            <a:off x="2145760" y="1430000"/>
            <a:ext cx="160000" cy="100000"/>
          </a:xfrm>
          <a:prstGeom prst="rightArrow">
            <a:avLst/>
          </a:prstGeom>
          <a:solidFill>
            <a:srgbClr val="0B5394"/>
          </a:solidFill>
          <a:ln>
            <a:noFill/>
          </a:ln>
        </p:spPr>
      </p:sp>
      <p:sp>
        <p:nvSpPr>
          <p:cNvPr id="209" name="chip1"/>
          <p:cNvSpPr/>
          <p:nvPr/>
        </p:nvSpPr>
        <p:spPr>
          <a:xfrm>
            <a:off x="2335760" y="1180000"/>
            <a:ext cx="1750000" cy="600000"/>
          </a:xfrm>
          <a:prstGeom prst="roundRect">
            <a:avLst>
              <a:gd name="adj" fmla="val 10000"/>
            </a:avLst>
          </a:prstGeom>
          <a:solidFill>
            <a:srgbClr val="D6E4F2"/>
          </a:solidFill>
          <a:ln w="9525">
            <a:solidFill>
              <a:srgbClr val="0B5394"/>
            </a:solidFill>
          </a:ln>
        </p:spPr>
      </p:sp>
      <p:sp>
        <p:nvSpPr>
          <p:cNvPr id="210" name="chipt1"/>
          <p:cNvSpPr/>
          <p:nvPr/>
        </p:nvSpPr>
        <p:spPr>
          <a:xfrm>
            <a:off x="2335760" y="1260000"/>
            <a:ext cx="175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200" b="1" dirty="0">
                <a:solidFill>
                  <a:srgbClr val="0B5394"/>
                </a:solidFill>
                <a:latin typeface="Calibri"/>
              </a:rPr>
              <a:t>Train / Test</a:t>
            </a:r>
          </a:p>
        </p:txBody>
      </p:sp>
      <p:sp>
        <p:nvSpPr>
          <p:cNvPr id="211" name="chips1"/>
          <p:cNvSpPr/>
          <p:nvPr/>
        </p:nvSpPr>
        <p:spPr>
          <a:xfrm>
            <a:off x="2335760" y="1500000"/>
            <a:ext cx="1750000" cy="24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900" dirty="0">
                <a:solidFill>
                  <a:srgbClr val="5C5C5C"/>
                </a:solidFill>
                <a:latin typeface="Calibri"/>
              </a:rPr>
              <a:t>1422 / 355</a:t>
            </a:r>
          </a:p>
        </p:txBody>
      </p:sp>
      <p:sp>
        <p:nvSpPr>
          <p:cNvPr id="212" name="a1"/>
          <p:cNvSpPr/>
          <p:nvPr/>
        </p:nvSpPr>
        <p:spPr>
          <a:xfrm>
            <a:off x="4115760" y="1430000"/>
            <a:ext cx="160000" cy="100000"/>
          </a:xfrm>
          <a:prstGeom prst="rightArrow">
            <a:avLst/>
          </a:prstGeom>
          <a:solidFill>
            <a:srgbClr val="0B5394"/>
          </a:solidFill>
          <a:ln>
            <a:noFill/>
          </a:ln>
        </p:spPr>
      </p:sp>
      <p:sp>
        <p:nvSpPr>
          <p:cNvPr id="213" name="chip2"/>
          <p:cNvSpPr/>
          <p:nvPr/>
        </p:nvSpPr>
        <p:spPr>
          <a:xfrm>
            <a:off x="4305760" y="1180000"/>
            <a:ext cx="1750000" cy="600000"/>
          </a:xfrm>
          <a:prstGeom prst="roundRect">
            <a:avLst>
              <a:gd name="adj" fmla="val 10000"/>
            </a:avLst>
          </a:prstGeom>
          <a:solidFill>
            <a:srgbClr val="D6E4F2"/>
          </a:solidFill>
          <a:ln w="9525">
            <a:solidFill>
              <a:srgbClr val="0B5394"/>
            </a:solidFill>
          </a:ln>
        </p:spPr>
      </p:sp>
      <p:sp>
        <p:nvSpPr>
          <p:cNvPr id="214" name="chipt2"/>
          <p:cNvSpPr/>
          <p:nvPr/>
        </p:nvSpPr>
        <p:spPr>
          <a:xfrm>
            <a:off x="4305760" y="1260000"/>
            <a:ext cx="175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200" b="1" dirty="0">
                <a:solidFill>
                  <a:srgbClr val="0B5394"/>
                </a:solidFill>
                <a:latin typeface="Calibri"/>
              </a:rPr>
              <a:t>Baseline</a:t>
            </a:r>
          </a:p>
        </p:txBody>
      </p:sp>
      <p:sp>
        <p:nvSpPr>
          <p:cNvPr id="215" name="chips2"/>
          <p:cNvSpPr/>
          <p:nvPr/>
        </p:nvSpPr>
        <p:spPr>
          <a:xfrm>
            <a:off x="4305760" y="1500000"/>
            <a:ext cx="1750000" cy="24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900" dirty="0">
                <a:solidFill>
                  <a:srgbClr val="5C5C5C"/>
                </a:solidFill>
                <a:latin typeface="Calibri"/>
              </a:rPr>
              <a:t>TF-IDF + LinearSVC</a:t>
            </a:r>
          </a:p>
        </p:txBody>
      </p:sp>
      <p:sp>
        <p:nvSpPr>
          <p:cNvPr id="216" name="a2"/>
          <p:cNvSpPr/>
          <p:nvPr/>
        </p:nvSpPr>
        <p:spPr>
          <a:xfrm>
            <a:off x="6085760" y="1430000"/>
            <a:ext cx="160000" cy="100000"/>
          </a:xfrm>
          <a:prstGeom prst="rightArrow">
            <a:avLst/>
          </a:prstGeom>
          <a:solidFill>
            <a:srgbClr val="0B5394"/>
          </a:solidFill>
          <a:ln>
            <a:noFill/>
          </a:ln>
        </p:spPr>
      </p:sp>
      <p:sp>
        <p:nvSpPr>
          <p:cNvPr id="217" name="chip3"/>
          <p:cNvSpPr/>
          <p:nvPr/>
        </p:nvSpPr>
        <p:spPr>
          <a:xfrm>
            <a:off x="6275760" y="1180000"/>
            <a:ext cx="1750000" cy="600000"/>
          </a:xfrm>
          <a:prstGeom prst="roundRect">
            <a:avLst>
              <a:gd name="adj" fmla="val 10000"/>
            </a:avLst>
          </a:prstGeom>
          <a:solidFill>
            <a:srgbClr val="0B5394"/>
          </a:solidFill>
          <a:ln w="9525">
            <a:solidFill>
              <a:srgbClr val="0B5394"/>
            </a:solidFill>
          </a:ln>
        </p:spPr>
        <p:txBody>
          <a:bodyPr/>
          <a:lstStyle/>
          <a:p>
            <a:endParaRPr lang="ru-RU" dirty="0"/>
          </a:p>
        </p:txBody>
      </p:sp>
      <p:sp>
        <p:nvSpPr>
          <p:cNvPr id="218" name="chipt3"/>
          <p:cNvSpPr/>
          <p:nvPr/>
        </p:nvSpPr>
        <p:spPr>
          <a:xfrm>
            <a:off x="6275760" y="1260000"/>
            <a:ext cx="175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200" b="1" dirty="0">
                <a:solidFill>
                  <a:srgbClr val="FFFFFF"/>
                </a:solidFill>
                <a:latin typeface="Calibri"/>
              </a:rPr>
              <a:t>Аугментация</a:t>
            </a:r>
          </a:p>
        </p:txBody>
      </p:sp>
      <p:sp>
        <p:nvSpPr>
          <p:cNvPr id="219" name="chips3"/>
          <p:cNvSpPr/>
          <p:nvPr/>
        </p:nvSpPr>
        <p:spPr>
          <a:xfrm>
            <a:off x="6275760" y="1500000"/>
            <a:ext cx="1750000" cy="24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900" dirty="0" err="1">
                <a:solidFill>
                  <a:srgbClr val="FFFFFF"/>
                </a:solidFill>
                <a:latin typeface="Calibri"/>
              </a:rPr>
              <a:t>back-translation</a:t>
            </a:r>
            <a:r>
              <a:rPr lang="en-US" sz="900" dirty="0">
                <a:solidFill>
                  <a:srgbClr val="FFFFFF"/>
                </a:solidFill>
                <a:latin typeface="Calibri"/>
              </a:rPr>
              <a:t>, paraphrase</a:t>
            </a:r>
            <a:endParaRPr lang="ru-RU" sz="90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0" name="ln_aug_down"/>
          <p:cNvSpPr/>
          <p:nvPr/>
        </p:nvSpPr>
        <p:spPr>
          <a:xfrm>
            <a:off x="7150760" y="1780000"/>
            <a:ext cx="1" cy="150000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  <p:sp>
        <p:nvSpPr>
          <p:cNvPr id="221" name="ln_bus1"/>
          <p:cNvSpPr/>
          <p:nvPr/>
        </p:nvSpPr>
        <p:spPr>
          <a:xfrm>
            <a:off x="2450000" y="1930000"/>
            <a:ext cx="4250000" cy="1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  <p:sp>
        <p:nvSpPr>
          <p:cNvPr id="222" name="ln_l1l"/>
          <p:cNvSpPr/>
          <p:nvPr/>
        </p:nvSpPr>
        <p:spPr>
          <a:xfrm>
            <a:off x="2450000" y="1930000"/>
            <a:ext cx="1" cy="130000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  <p:sp>
        <p:nvSpPr>
          <p:cNvPr id="223" name="ln_l1r"/>
          <p:cNvSpPr/>
          <p:nvPr/>
        </p:nvSpPr>
        <p:spPr>
          <a:xfrm>
            <a:off x="6700000" y="1930000"/>
            <a:ext cx="1" cy="130000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  <p:sp>
        <p:nvSpPr>
          <p:cNvPr id="224" name="l1_left"/>
          <p:cNvSpPr/>
          <p:nvPr/>
        </p:nvSpPr>
        <p:spPr>
          <a:xfrm>
            <a:off x="1100000" y="2060000"/>
            <a:ext cx="2700000" cy="500000"/>
          </a:xfrm>
          <a:prstGeom prst="roundRect">
            <a:avLst>
              <a:gd name="adj" fmla="val 8000"/>
            </a:avLst>
          </a:prstGeom>
          <a:solidFill>
            <a:srgbClr val="0B5394"/>
          </a:solidFill>
          <a:ln w="9525">
            <a:solidFill>
              <a:srgbClr val="0B5394"/>
            </a:solidFill>
          </a:ln>
        </p:spPr>
      </p:sp>
      <p:sp>
        <p:nvSpPr>
          <p:cNvPr id="225" name="l1_left_t"/>
          <p:cNvSpPr/>
          <p:nvPr/>
        </p:nvSpPr>
        <p:spPr>
          <a:xfrm>
            <a:off x="1100000" y="2100000"/>
            <a:ext cx="2700000" cy="225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250" b="1" dirty="0">
                <a:solidFill>
                  <a:srgbClr val="FFFFFF"/>
                </a:solidFill>
                <a:latin typeface="Calibri"/>
              </a:rPr>
              <a:t>BERT-классификация</a:t>
            </a:r>
          </a:p>
        </p:txBody>
      </p:sp>
      <p:sp>
        <p:nvSpPr>
          <p:cNvPr id="226" name="l1_left_s"/>
          <p:cNvSpPr/>
          <p:nvPr/>
        </p:nvSpPr>
        <p:spPr>
          <a:xfrm>
            <a:off x="1100000" y="2315000"/>
            <a:ext cx="2700000" cy="245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900" dirty="0">
                <a:solidFill>
                  <a:srgbClr val="FFFFFF"/>
                </a:solidFill>
                <a:latin typeface="Calibri"/>
              </a:rPr>
              <a:t>дообученный BERT + classifier head</a:t>
            </a:r>
          </a:p>
        </p:txBody>
      </p:sp>
      <p:sp>
        <p:nvSpPr>
          <p:cNvPr id="227" name="l1_right"/>
          <p:cNvSpPr/>
          <p:nvPr/>
        </p:nvSpPr>
        <p:spPr>
          <a:xfrm>
            <a:off x="5350000" y="2060000"/>
            <a:ext cx="2700000" cy="500000"/>
          </a:xfrm>
          <a:prstGeom prst="roundRect">
            <a:avLst>
              <a:gd name="adj" fmla="val 8000"/>
            </a:avLst>
          </a:prstGeom>
          <a:solidFill>
            <a:srgbClr val="0B5394"/>
          </a:solidFill>
          <a:ln w="9525">
            <a:solidFill>
              <a:srgbClr val="0B5394"/>
            </a:solidFill>
          </a:ln>
        </p:spPr>
      </p:sp>
      <p:sp>
        <p:nvSpPr>
          <p:cNvPr id="228" name="l1_right_t"/>
          <p:cNvSpPr/>
          <p:nvPr/>
        </p:nvSpPr>
        <p:spPr>
          <a:xfrm>
            <a:off x="5350000" y="2100000"/>
            <a:ext cx="2700000" cy="225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250" b="1" dirty="0">
                <a:solidFill>
                  <a:srgbClr val="FFFFFF"/>
                </a:solidFill>
                <a:latin typeface="Calibri"/>
              </a:rPr>
              <a:t>BERT-эмбеддинги</a:t>
            </a:r>
          </a:p>
        </p:txBody>
      </p:sp>
      <p:sp>
        <p:nvSpPr>
          <p:cNvPr id="229" name="l1_right_s"/>
          <p:cNvSpPr/>
          <p:nvPr/>
        </p:nvSpPr>
        <p:spPr>
          <a:xfrm>
            <a:off x="5350000" y="2315000"/>
            <a:ext cx="2700000" cy="245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900" dirty="0">
                <a:solidFill>
                  <a:srgbClr val="FFFFFF"/>
                </a:solidFill>
                <a:latin typeface="Calibri"/>
              </a:rPr>
              <a:t>дообученный энкодер — векторы текста</a:t>
            </a:r>
          </a:p>
        </p:txBody>
      </p:sp>
      <p:sp>
        <p:nvSpPr>
          <p:cNvPr id="230" name="ln_l1r_down"/>
          <p:cNvSpPr/>
          <p:nvPr/>
        </p:nvSpPr>
        <p:spPr>
          <a:xfrm>
            <a:off x="6700000" y="2560000"/>
            <a:ext cx="1" cy="190000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  <p:sp>
        <p:nvSpPr>
          <p:cNvPr id="231" name="ln_bus2"/>
          <p:cNvSpPr/>
          <p:nvPr/>
        </p:nvSpPr>
        <p:spPr>
          <a:xfrm>
            <a:off x="5050000" y="2750000"/>
            <a:ext cx="2500000" cy="1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  <p:sp>
        <p:nvSpPr>
          <p:cNvPr id="232" name="ln_l2l"/>
          <p:cNvSpPr/>
          <p:nvPr/>
        </p:nvSpPr>
        <p:spPr>
          <a:xfrm>
            <a:off x="5050000" y="2750000"/>
            <a:ext cx="1" cy="130000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  <p:sp>
        <p:nvSpPr>
          <p:cNvPr id="233" name="ln_l2r"/>
          <p:cNvSpPr/>
          <p:nvPr/>
        </p:nvSpPr>
        <p:spPr>
          <a:xfrm>
            <a:off x="7550000" y="2750000"/>
            <a:ext cx="1" cy="130000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  <p:sp>
        <p:nvSpPr>
          <p:cNvPr id="234" name="l2_left"/>
          <p:cNvSpPr/>
          <p:nvPr/>
        </p:nvSpPr>
        <p:spPr>
          <a:xfrm>
            <a:off x="3700000" y="2880000"/>
            <a:ext cx="2700000" cy="500000"/>
          </a:xfrm>
          <a:prstGeom prst="roundRect">
            <a:avLst>
              <a:gd name="adj" fmla="val 8000"/>
            </a:avLst>
          </a:prstGeom>
          <a:solidFill>
            <a:srgbClr val="D6E4F2"/>
          </a:solidFill>
          <a:ln w="9525">
            <a:solidFill>
              <a:srgbClr val="0B5394"/>
            </a:solidFill>
          </a:ln>
        </p:spPr>
      </p:sp>
      <p:sp>
        <p:nvSpPr>
          <p:cNvPr id="235" name="l2_left_t"/>
          <p:cNvSpPr/>
          <p:nvPr/>
        </p:nvSpPr>
        <p:spPr>
          <a:xfrm>
            <a:off x="3700000" y="2920000"/>
            <a:ext cx="2700000" cy="225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250" b="1" dirty="0">
                <a:solidFill>
                  <a:srgbClr val="0B5394"/>
                </a:solidFill>
                <a:latin typeface="Calibri"/>
              </a:rPr>
              <a:t>Cosine similarity</a:t>
            </a:r>
          </a:p>
        </p:txBody>
      </p:sp>
      <p:sp>
        <p:nvSpPr>
          <p:cNvPr id="236" name="l2_left_s"/>
          <p:cNvSpPr/>
          <p:nvPr/>
        </p:nvSpPr>
        <p:spPr>
          <a:xfrm>
            <a:off x="3700000" y="3135000"/>
            <a:ext cx="2700000" cy="245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900" dirty="0">
                <a:solidFill>
                  <a:srgbClr val="5C5C5C"/>
                </a:solidFill>
                <a:latin typeface="Calibri"/>
              </a:rPr>
              <a:t>Centroid / Nearest / Centroid-NN</a:t>
            </a:r>
          </a:p>
        </p:txBody>
      </p:sp>
      <p:sp>
        <p:nvSpPr>
          <p:cNvPr id="237" name="l2_right"/>
          <p:cNvSpPr/>
          <p:nvPr/>
        </p:nvSpPr>
        <p:spPr>
          <a:xfrm>
            <a:off x="6200000" y="2880000"/>
            <a:ext cx="2700000" cy="500000"/>
          </a:xfrm>
          <a:prstGeom prst="roundRect">
            <a:avLst>
              <a:gd name="adj" fmla="val 8000"/>
            </a:avLst>
          </a:prstGeom>
          <a:solidFill>
            <a:srgbClr val="D6E4F2"/>
          </a:solidFill>
          <a:ln w="9525">
            <a:solidFill>
              <a:srgbClr val="0B5394"/>
            </a:solidFill>
          </a:ln>
        </p:spPr>
      </p:sp>
      <p:sp>
        <p:nvSpPr>
          <p:cNvPr id="238" name="l2_right_t"/>
          <p:cNvSpPr/>
          <p:nvPr/>
        </p:nvSpPr>
        <p:spPr>
          <a:xfrm>
            <a:off x="6200000" y="2920000"/>
            <a:ext cx="2700000" cy="225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250" b="1" dirty="0">
                <a:solidFill>
                  <a:srgbClr val="0B5394"/>
                </a:solidFill>
                <a:latin typeface="Calibri"/>
              </a:rPr>
              <a:t>Композит TF-IDF (word+char) ⊕ BERT</a:t>
            </a:r>
          </a:p>
        </p:txBody>
      </p:sp>
      <p:sp>
        <p:nvSpPr>
          <p:cNvPr id="239" name="l2_right_s"/>
          <p:cNvSpPr/>
          <p:nvPr/>
        </p:nvSpPr>
        <p:spPr>
          <a:xfrm>
            <a:off x="6200000" y="3135000"/>
            <a:ext cx="2700000" cy="245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900" dirty="0">
                <a:solidFill>
                  <a:srgbClr val="5C5C5C"/>
                </a:solidFill>
                <a:latin typeface="Calibri"/>
              </a:rPr>
              <a:t>конкатенация представлений</a:t>
            </a:r>
          </a:p>
        </p:txBody>
      </p:sp>
      <p:sp>
        <p:nvSpPr>
          <p:cNvPr id="240" name="ln_comp_down"/>
          <p:cNvSpPr/>
          <p:nvPr/>
        </p:nvSpPr>
        <p:spPr>
          <a:xfrm>
            <a:off x="7550000" y="3380000"/>
            <a:ext cx="1" cy="210000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  <p:sp>
        <p:nvSpPr>
          <p:cNvPr id="241" name="ln_bus3"/>
          <p:cNvSpPr/>
          <p:nvPr/>
        </p:nvSpPr>
        <p:spPr>
          <a:xfrm>
            <a:off x="5975000" y="3590000"/>
            <a:ext cx="2100000" cy="1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  <p:sp>
        <p:nvSpPr>
          <p:cNvPr id="242" name="ln_l3l"/>
          <p:cNvSpPr/>
          <p:nvPr/>
        </p:nvSpPr>
        <p:spPr>
          <a:xfrm>
            <a:off x="5975000" y="3590000"/>
            <a:ext cx="1" cy="130000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  <p:sp>
        <p:nvSpPr>
          <p:cNvPr id="243" name="ln_l3r"/>
          <p:cNvSpPr/>
          <p:nvPr/>
        </p:nvSpPr>
        <p:spPr>
          <a:xfrm>
            <a:off x="8075000" y="3590000"/>
            <a:ext cx="1" cy="130000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  <p:sp>
        <p:nvSpPr>
          <p:cNvPr id="244" name="l3_left"/>
          <p:cNvSpPr/>
          <p:nvPr/>
        </p:nvSpPr>
        <p:spPr>
          <a:xfrm>
            <a:off x="5050000" y="3720000"/>
            <a:ext cx="1850000" cy="5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B5394"/>
            </a:solidFill>
          </a:ln>
        </p:spPr>
      </p:sp>
      <p:sp>
        <p:nvSpPr>
          <p:cNvPr id="245" name="l3_left_t"/>
          <p:cNvSpPr/>
          <p:nvPr/>
        </p:nvSpPr>
        <p:spPr>
          <a:xfrm>
            <a:off x="5050000" y="3760000"/>
            <a:ext cx="1850000" cy="238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250" b="1" dirty="0">
                <a:solidFill>
                  <a:srgbClr val="0B5394"/>
                </a:solidFill>
                <a:latin typeface="Calibri"/>
              </a:rPr>
              <a:t>Классические</a:t>
            </a:r>
          </a:p>
        </p:txBody>
      </p:sp>
      <p:sp>
        <p:nvSpPr>
          <p:cNvPr id="246" name="l3_left_s"/>
          <p:cNvSpPr/>
          <p:nvPr/>
        </p:nvSpPr>
        <p:spPr>
          <a:xfrm>
            <a:off x="5050000" y="3988500"/>
            <a:ext cx="1850000" cy="261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900" dirty="0">
                <a:solidFill>
                  <a:srgbClr val="5C5C5C"/>
                </a:solidFill>
                <a:latin typeface="Calibri"/>
              </a:rPr>
              <a:t>Ridge · LinearSVC · LogReg</a:t>
            </a:r>
          </a:p>
        </p:txBody>
      </p:sp>
      <p:sp>
        <p:nvSpPr>
          <p:cNvPr id="247" name="l3_right"/>
          <p:cNvSpPr/>
          <p:nvPr/>
        </p:nvSpPr>
        <p:spPr>
          <a:xfrm>
            <a:off x="7150000" y="3720000"/>
            <a:ext cx="1850000" cy="5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B5394"/>
            </a:solidFill>
          </a:ln>
        </p:spPr>
      </p:sp>
      <p:sp>
        <p:nvSpPr>
          <p:cNvPr id="248" name="l3_right_t"/>
          <p:cNvSpPr/>
          <p:nvPr/>
        </p:nvSpPr>
        <p:spPr>
          <a:xfrm>
            <a:off x="7150000" y="3760000"/>
            <a:ext cx="1850000" cy="238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250" b="1" dirty="0">
                <a:solidFill>
                  <a:srgbClr val="0B5394"/>
                </a:solidFill>
                <a:latin typeface="Calibri"/>
              </a:rPr>
              <a:t>MLP</a:t>
            </a:r>
          </a:p>
        </p:txBody>
      </p:sp>
      <p:sp>
        <p:nvSpPr>
          <p:cNvPr id="249" name="l3_right_s"/>
          <p:cNvSpPr/>
          <p:nvPr/>
        </p:nvSpPr>
        <p:spPr>
          <a:xfrm>
            <a:off x="7150000" y="3988500"/>
            <a:ext cx="1850000" cy="261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C5C"/>
                </a:solidFill>
                <a:latin typeface="Calibri"/>
              </a:rPr>
              <a:t>3800 </a:t>
            </a:r>
            <a:r>
              <a:rPr lang="ru-RU" sz="900" dirty="0">
                <a:solidFill>
                  <a:srgbClr val="5C5C5C"/>
                </a:solidFill>
                <a:latin typeface="Calibri"/>
              </a:rPr>
              <a:t>нейронов в скрытых слоях</a:t>
            </a:r>
          </a:p>
        </p:txBody>
      </p:sp>
      <p:sp>
        <p:nvSpPr>
          <p:cNvPr id="250" name="foot"/>
          <p:cNvSpPr/>
          <p:nvPr/>
        </p:nvSpPr>
        <p:spPr>
          <a:xfrm>
            <a:off x="159762" y="4579114"/>
            <a:ext cx="6534240" cy="375886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950" dirty="0">
                <a:solidFill>
                  <a:srgbClr val="5C5C5C"/>
                </a:solidFill>
                <a:latin typeface="Calibri"/>
              </a:rPr>
              <a:t>Реализация: Python · scikit-learn · HuggingFace Transformers · PyTorch · все эксперименты воспроизводимы из репозитория</a:t>
            </a:r>
          </a:p>
        </p:txBody>
      </p:sp>
      <p:sp>
        <p:nvSpPr>
          <p:cNvPr id="2" name="ln_bus1">
            <a:extLst>
              <a:ext uri="{FF2B5EF4-FFF2-40B4-BE49-F238E27FC236}">
                <a16:creationId xmlns:a16="http://schemas.microsoft.com/office/drawing/2014/main" id="{2EC3F9A8-E0B7-DD9F-5398-059565BE063F}"/>
              </a:ext>
            </a:extLst>
          </p:cNvPr>
          <p:cNvSpPr/>
          <p:nvPr/>
        </p:nvSpPr>
        <p:spPr>
          <a:xfrm flipV="1">
            <a:off x="6694002" y="1929995"/>
            <a:ext cx="455888" cy="3"/>
          </a:xfrm>
          <a:prstGeom prst="line">
            <a:avLst/>
          </a:prstGeom>
          <a:noFill/>
          <a:ln w="15875">
            <a:solidFill>
              <a:srgbClr val="0B5394"/>
            </a:solidFill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Предобработка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аугментация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подготовить чистые, сбалансированные данные для обучения, не «протекая» в тест.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4114800" cy="324612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Очистка и нормализация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удаление HTML, подписей, дубликатов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нормализация регистра и пунктуации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устранение пересечений train/test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520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7947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Зафиксированное разбиение. Тестовые тексты не используются ни при обучении, ни при аугментации, ни при дообучении эмбеддера.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114800" cy="324612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6002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Текстовая аугментация (только train)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20116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Перефразирование</a:t>
            </a: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нейросетевое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переписывание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формулировок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редких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классов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через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ruT5-large-paraphraser.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Обратный перевод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ru →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es/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ru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OPUS-MT; сохраняет смысл, меняет лексику.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увеличить вариативность редких классов и выровнять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>
              <a:lnSpc>
                <a:spcPts val="1600"/>
              </a:lnSpc>
            </a:pPr>
            <a:endParaRPr lang="en-US" sz="1100" b="1" dirty="0">
              <a:solidFill>
                <a:srgbClr val="0B539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lnSpc>
                <a:spcPts val="1600"/>
              </a:lnSpc>
            </a:pPr>
            <a:r>
              <a:rPr lang="ru-RU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Общее увеличение</a:t>
            </a:r>
            <a:r>
              <a:rPr lang="en-US" sz="11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1404 до 2158 документов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93109E-0419-C383-482D-605BD8BF6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9DD257F-E0B4-4013-0A1C-BA6F63C95427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3942E3-98DB-19F3-931A-F121DE28DC25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Суммаризация</a:t>
            </a:r>
            <a:endParaRPr lang="en-US" sz="24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7161B29-8D29-41E4-DF78-B7E872CC10A1}"/>
              </a:ext>
            </a:extLst>
          </p:cNvPr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4" name="Rectangle 13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300" b="1" i="0">
                <a:solidFill>
                  <a:srgbClr val="0B5394"/>
                </a:solidFill>
                <a:latin typeface="Calibri"/>
              </a:rPr>
              <a:t>Задача: </a:t>
            </a:r>
            <a:r>
              <a:rPr sz="1300" b="0" i="0">
                <a:solidFill>
                  <a:srgbClr val="1A1A1A"/>
                </a:solidFill>
                <a:latin typeface="Calibri"/>
              </a:rPr>
              <a:t>проверить, помогает ли сжатие текста до главной мысли, и подготовить альтернативные обучающие выборки.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463040"/>
            <a:ext cx="49377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400" b="1" i="0">
                <a:solidFill>
                  <a:srgbClr val="0B5394"/>
                </a:solidFill>
                <a:latin typeface="Calibri"/>
              </a:rPr>
              <a:t>Подход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783080"/>
            <a:ext cx="4937760" cy="2286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модель rut5_base_sum_gazeta (T5, дообучена на корпусе «Газета.Ru»)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beam search; вход до 600 токенов, выжимка 30–128 токенов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две версии датасета: замена текста на summary и конкатенация original ⊕ summary</a:t>
            </a:r>
          </a:p>
          <a:p>
            <a:pPr algn="l">
              <a:spcAft>
                <a:spcPts val="4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обе версии подаются как train в TF-IDF, BERT-классификатор и эмбеддинги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1463040"/>
            <a:ext cx="3566160" cy="3200400"/>
          </a:xfrm>
          <a:prstGeom prst="rect">
            <a:avLst/>
          </a:prstGeom>
          <a:solidFill>
            <a:srgbClr val="D6E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0" y="1554480"/>
            <a:ext cx="32004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r>
              <a:rPr lang="ru-RU" sz="1300" b="1" dirty="0">
                <a:solidFill>
                  <a:srgbClr val="0B5394"/>
                </a:solidFill>
              </a:rPr>
              <a:t>Лучшие результаты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8010" y="2080260"/>
            <a:ext cx="3200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3200" b="1" i="0" dirty="0">
                <a:solidFill>
                  <a:srgbClr val="0B5394"/>
                </a:solidFill>
                <a:latin typeface="Calibri"/>
              </a:rPr>
              <a:t>0.482 / 0.497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8010" y="2720340"/>
            <a:ext cx="3200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100" b="0" i="0" dirty="0">
                <a:solidFill>
                  <a:srgbClr val="5C5C5C"/>
                </a:solidFill>
                <a:latin typeface="Calibri"/>
              </a:rPr>
              <a:t>BASELINE </a:t>
            </a:r>
            <a:r>
              <a:rPr sz="1100" b="0" i="0" dirty="0" err="1">
                <a:solidFill>
                  <a:srgbClr val="5C5C5C"/>
                </a:solidFill>
                <a:latin typeface="Calibri"/>
              </a:rPr>
              <a:t>на</a:t>
            </a:r>
            <a:r>
              <a:rPr sz="1100" b="0" i="0" dirty="0">
                <a:solidFill>
                  <a:srgbClr val="5C5C5C"/>
                </a:solidFill>
                <a:latin typeface="Calibri"/>
              </a:rPr>
              <a:t> original + summary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8010" y="3131820"/>
            <a:ext cx="3200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3200" b="1" i="0" dirty="0">
                <a:solidFill>
                  <a:srgbClr val="0B5394"/>
                </a:solidFill>
                <a:latin typeface="Calibri"/>
              </a:rPr>
              <a:t>0.512 / 0.498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8010" y="3771900"/>
            <a:ext cx="32004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lang="en-US" sz="1100" b="0" i="0" dirty="0">
                <a:solidFill>
                  <a:srgbClr val="5C5C5C"/>
                </a:solidFill>
                <a:latin typeface="Calibri"/>
              </a:rPr>
              <a:t>BERT</a:t>
            </a:r>
            <a:r>
              <a:rPr lang="ru-RU" sz="1100" b="0" i="0" dirty="0">
                <a:solidFill>
                  <a:srgbClr val="5C5C5C"/>
                </a:solidFill>
                <a:latin typeface="Calibri"/>
              </a:rPr>
              <a:t> классификация</a:t>
            </a:r>
            <a:r>
              <a:rPr sz="1100" b="0" i="0" dirty="0">
                <a:solidFill>
                  <a:srgbClr val="5C5C5C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5C5C5C"/>
                </a:solidFill>
                <a:latin typeface="Calibri"/>
              </a:rPr>
              <a:t>aug</a:t>
            </a:r>
            <a:r>
              <a:rPr sz="1100" b="0" i="0" dirty="0">
                <a:solidFill>
                  <a:srgbClr val="5C5C5C"/>
                </a:solidFill>
                <a:latin typeface="Calibri"/>
              </a:rPr>
              <a:t> +</a:t>
            </a:r>
            <a:r>
              <a:rPr lang="en-US" sz="1100" b="0" i="0" dirty="0">
                <a:solidFill>
                  <a:srgbClr val="5C5C5C"/>
                </a:solidFill>
                <a:latin typeface="Calibri"/>
              </a:rPr>
              <a:t> </a:t>
            </a:r>
            <a:r>
              <a:rPr sz="1100" b="0" i="0" dirty="0">
                <a:solidFill>
                  <a:srgbClr val="5C5C5C"/>
                </a:solidFill>
                <a:latin typeface="Calibri"/>
              </a:rPr>
              <a:t>summary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4069080"/>
            <a:ext cx="3200400" cy="5486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/>
            <a:r>
              <a:rPr sz="1000" b="0" i="1">
                <a:solidFill>
                  <a:srgbClr val="1A1A1A"/>
                </a:solidFill>
                <a:latin typeface="Calibri"/>
              </a:rPr>
              <a:t>Замена текста на summary ухудшает все модели; связка original ⊕ summary почти догоняет.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251960"/>
            <a:ext cx="4937760" cy="502920"/>
          </a:xfrm>
          <a:prstGeom prst="rect">
            <a:avLst/>
          </a:prstGeom>
          <a:solidFill>
            <a:srgbClr val="F4F6FA"/>
          </a:solidFill>
          <a:ln>
            <a:solidFill>
              <a:srgbClr val="D6D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2920" y="4315968"/>
            <a:ext cx="47548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/>
            <a:r>
              <a:rPr sz="1100" b="1" i="0">
                <a:solidFill>
                  <a:srgbClr val="0B5394"/>
                </a:solidFill>
                <a:latin typeface="Calibri"/>
              </a:rPr>
              <a:t>Вывод: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короткая выжимка теряет специфическую лексику деловых писем — длинный контекст важен.</a:t>
            </a:r>
          </a:p>
        </p:txBody>
      </p:sp>
      <p:sp>
        <p:nvSpPr>
          <p:cNvPr id="4" name="Rectangle 17">
            <a:extLst>
              <a:ext uri="{FF2B5EF4-FFF2-40B4-BE49-F238E27FC236}">
                <a16:creationId xmlns:a16="http://schemas.microsoft.com/office/drawing/2014/main" id="{AE37F58E-4FEF-31DD-B4D4-E6C947E971A9}"/>
              </a:ext>
            </a:extLst>
          </p:cNvPr>
          <p:cNvSpPr/>
          <p:nvPr/>
        </p:nvSpPr>
        <p:spPr>
          <a:xfrm>
            <a:off x="5666740" y="1889760"/>
            <a:ext cx="320167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r>
              <a:rPr lang="en-US" sz="1300" b="1" dirty="0">
                <a:solidFill>
                  <a:srgbClr val="0B5394"/>
                </a:solidFill>
              </a:rPr>
              <a:t>balanced accuracy / macro F1</a:t>
            </a:r>
            <a:endParaRPr lang="ru-RU" sz="1300" b="1" dirty="0">
              <a:solidFill>
                <a:srgbClr val="0B539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642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baseline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сильную базовую линию на классических признаках.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 и char-n-граммы (объединённое признаковое пространство)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линейные модели: LinearSVC, LogisticRegression, RidgeClassifier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class_weight=balanced для компенсации дисбаланса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эталон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TF-IDF + линейные классификаторы для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деловых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текстов</a:t>
            </a:r>
            <a:endParaRPr lang="ru-RU" sz="12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ru-RU" sz="12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просадка метрик на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аугментированном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 наборе объясняется тем, что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train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cs typeface="Calibri" pitchFamily="34" charset="-120"/>
              </a:rPr>
              <a:t> модель чаще предсказывала популярные классы, а на аугментации предсказания размазаны, ведь примеров на 754 документа больше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0" y="1463040"/>
            <a:ext cx="3566160" cy="320040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0" y="1554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train.csv</a:t>
            </a: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train_augmented.csv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79" y="1965960"/>
            <a:ext cx="3174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0.534 / 0.489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66928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3017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0.543 / 0.486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66928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(LinearSVC, n-граммы)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линейные модели остаются конкурентоспособной базовой линией.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</a:t>
            </a: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классификационной головой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оценить плотные контекстные представления и доменную адаптацию.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Реализованные подходы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500"/>
              </a:spcAft>
              <a:buSzPct val="100000"/>
            </a:pP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Базовые модели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ruBERT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ruRoberta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-large с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классификационной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головой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классическая на токене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</a:t>
            </a:r>
            <a:endParaRPr lang="ru-RU" sz="12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mean-pooling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по скрытым состояниям</a:t>
            </a:r>
            <a:endParaRPr lang="en-US" sz="12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chunkmean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для длинных документов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текст режется на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 перекрытием,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эмбеддинги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внутри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чанка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усредняются, потом усредняются между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чанками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69280" y="2560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7A2D636E-C3C3-8029-EE56-F32B18F2F8CE}"/>
              </a:ext>
            </a:extLst>
          </p:cNvPr>
          <p:cNvSpPr/>
          <p:nvPr/>
        </p:nvSpPr>
        <p:spPr>
          <a:xfrm>
            <a:off x="5486400" y="1463040"/>
            <a:ext cx="3566160" cy="320040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3FB42272-FE90-A9A6-D186-7C48B115CE8C}"/>
              </a:ext>
            </a:extLst>
          </p:cNvPr>
          <p:cNvSpPr/>
          <p:nvPr/>
        </p:nvSpPr>
        <p:spPr>
          <a:xfrm>
            <a:off x="5669280" y="1554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train.csv</a:t>
            </a: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train_augmented.csv</a:t>
            </a:r>
            <a:endParaRPr lang="en-US" sz="1300" dirty="0"/>
          </a:p>
        </p:txBody>
      </p:sp>
      <p:sp>
        <p:nvSpPr>
          <p:cNvPr id="18" name="Text 7">
            <a:extLst>
              <a:ext uri="{FF2B5EF4-FFF2-40B4-BE49-F238E27FC236}">
                <a16:creationId xmlns:a16="http://schemas.microsoft.com/office/drawing/2014/main" id="{AE103425-E579-EEB5-20A0-279812DEBBCB}"/>
              </a:ext>
            </a:extLst>
          </p:cNvPr>
          <p:cNvSpPr/>
          <p:nvPr/>
        </p:nvSpPr>
        <p:spPr>
          <a:xfrm>
            <a:off x="5669279" y="1965960"/>
            <a:ext cx="317418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0.454 / 0.501</a:t>
            </a:r>
            <a:endParaRPr lang="en-US" sz="4400" dirty="0"/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4473758C-0E42-54EE-A23C-B000979F39BC}"/>
              </a:ext>
            </a:extLst>
          </p:cNvPr>
          <p:cNvSpPr/>
          <p:nvPr/>
        </p:nvSpPr>
        <p:spPr>
          <a:xfrm>
            <a:off x="566928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endParaRPr lang="en-US" sz="1100" dirty="0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840FD6BD-3542-3AEF-336B-972AEC1D70CA}"/>
              </a:ext>
            </a:extLst>
          </p:cNvPr>
          <p:cNvSpPr/>
          <p:nvPr/>
        </p:nvSpPr>
        <p:spPr>
          <a:xfrm>
            <a:off x="5669280" y="30175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0.443 / 0.504</a:t>
            </a:r>
            <a:endParaRPr lang="en-US" sz="3600" dirty="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DE0B774F-6CAD-E5D1-1E44-ADC6487CB3AD}"/>
              </a:ext>
            </a:extLst>
          </p:cNvPr>
          <p:cNvSpPr/>
          <p:nvPr/>
        </p:nvSpPr>
        <p:spPr>
          <a:xfrm>
            <a:off x="566928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</a:t>
            </a:r>
            <a:endParaRPr lang="en-US" sz="1100" dirty="0"/>
          </a:p>
        </p:txBody>
      </p:sp>
      <p:sp>
        <p:nvSpPr>
          <p:cNvPr id="22" name="Text 11">
            <a:extLst>
              <a:ext uri="{FF2B5EF4-FFF2-40B4-BE49-F238E27FC236}">
                <a16:creationId xmlns:a16="http://schemas.microsoft.com/office/drawing/2014/main" id="{825E2069-8FD0-774B-D4ED-FAC39D2AD61F}"/>
              </a:ext>
            </a:extLst>
          </p:cNvPr>
          <p:cNvSpPr/>
          <p:nvPr/>
        </p:nvSpPr>
        <p:spPr>
          <a:xfrm>
            <a:off x="566928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ru-RU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Аугментация помогла </a:t>
            </a: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BERT-</a:t>
            </a:r>
            <a:r>
              <a:rPr lang="ru-RU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классификатору. Лучший результат на </a:t>
            </a:r>
            <a:r>
              <a:rPr lang="en-US" sz="1000" i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ruRoberta</a:t>
            </a: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-large </a:t>
            </a:r>
            <a:r>
              <a:rPr lang="ru-RU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</a:t>
            </a:r>
            <a:r>
              <a:rPr lang="en-US" sz="1000" i="1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chunkmean</a:t>
            </a:r>
            <a:r>
              <a:rPr lang="ru-RU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-головой и аугментацией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C96790-7A19-5E7E-A57C-B35128B5D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81FF36C-C4FB-5B85-CC87-2807E07A89A1}"/>
              </a:ext>
            </a:extLst>
          </p:cNvPr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A61F4DC-E08B-01C4-93CB-3BC0C21CD5AF}"/>
              </a:ext>
            </a:extLst>
          </p:cNvPr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similarity</a:t>
            </a:r>
            <a:r>
              <a:rPr lang="ru-RU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</a:t>
            </a:r>
            <a:r>
              <a:rPr lang="ru-RU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эмбедингах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Sentence-BERT</a:t>
            </a:r>
            <a:endParaRPr lang="en-US" sz="2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553FE63-8A56-F6EB-B4CD-DD61EA4E5228}"/>
              </a:ext>
            </a:extLst>
          </p:cNvPr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оценить плотные контекстные представления и доменную адаптацию.</a:t>
            </a:r>
            <a:endParaRPr lang="en-US" sz="1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9FBCCB2-CEE7-A6CA-ED7E-2C68E474B654}"/>
              </a:ext>
            </a:extLst>
          </p:cNvPr>
          <p:cNvSpPr/>
          <p:nvPr/>
        </p:nvSpPr>
        <p:spPr>
          <a:xfrm>
            <a:off x="365760" y="14630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Реализованные подходы</a:t>
            </a:r>
            <a:endParaRPr lang="en-US" sz="14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8680114-68E6-9D8A-00AA-21FDFF4522E7}"/>
              </a:ext>
            </a:extLst>
          </p:cNvPr>
          <p:cNvSpPr/>
          <p:nvPr/>
        </p:nvSpPr>
        <p:spPr>
          <a:xfrm>
            <a:off x="365760" y="178308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 для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извлечения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эмбеддингов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ruRoberta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-large,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констрастивный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лосс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MultipleNegativesRankingLoss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доменная адаптация эмбеддера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cosine-centroid(</a:t>
            </a:r>
            <a:r>
              <a:rPr lang="ru-RU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робастный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классификация по близости к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центроиду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класса</a:t>
            </a:r>
            <a:endParaRPr lang="ru-RU" sz="1200" dirty="0">
              <a:solidFill>
                <a:srgbClr val="1A1A1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/>
              <a:t>cosine-nearest(soft-vote): top-k</a:t>
            </a:r>
            <a:r>
              <a:rPr lang="ru-RU" sz="1200" dirty="0"/>
              <a:t> ближайших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 err="1"/>
              <a:t>centroid+nearest</a:t>
            </a:r>
            <a:r>
              <a:rPr lang="ru-RU" sz="1200" dirty="0"/>
              <a:t> </a:t>
            </a:r>
            <a:r>
              <a:rPr lang="en-US" sz="1200" dirty="0"/>
              <a:t>ensemble:</a:t>
            </a:r>
            <a:r>
              <a:rPr lang="ru-RU" sz="1200" dirty="0"/>
              <a:t> взвешенная сумма двух выше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AF5AFF2-DAB8-4E15-FB18-59304BB3FCF6}"/>
              </a:ext>
            </a:extLst>
          </p:cNvPr>
          <p:cNvSpPr/>
          <p:nvPr/>
        </p:nvSpPr>
        <p:spPr>
          <a:xfrm>
            <a:off x="5486400" y="1463040"/>
            <a:ext cx="3465768" cy="320040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7F0FAE-2EB0-C4FE-0225-65C93E95D92C}"/>
              </a:ext>
            </a:extLst>
          </p:cNvPr>
          <p:cNvSpPr/>
          <p:nvPr/>
        </p:nvSpPr>
        <p:spPr>
          <a:xfrm>
            <a:off x="5669280" y="1554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Ключевой результат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951BE6B-6A71-7917-5A0D-710A33AD3FA6}"/>
              </a:ext>
            </a:extLst>
          </p:cNvPr>
          <p:cNvSpPr/>
          <p:nvPr/>
        </p:nvSpPr>
        <p:spPr>
          <a:xfrm>
            <a:off x="5669280" y="19202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0.578</a:t>
            </a:r>
            <a:endParaRPr lang="en-US" sz="4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8AB7339-0679-B207-45B8-ED64C3FDF3C7}"/>
              </a:ext>
            </a:extLst>
          </p:cNvPr>
          <p:cNvSpPr/>
          <p:nvPr/>
        </p:nvSpPr>
        <p:spPr>
          <a:xfrm>
            <a:off x="5669280" y="2560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A8B4A8C-C5D9-D60B-BA42-4F5B9AF5B593}"/>
              </a:ext>
            </a:extLst>
          </p:cNvPr>
          <p:cNvSpPr/>
          <p:nvPr/>
        </p:nvSpPr>
        <p:spPr>
          <a:xfrm>
            <a:off x="5669280" y="28163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Cosine-Centroid на дообученных эмбеддингах</a:t>
            </a:r>
            <a:endParaRPr lang="en-US" sz="1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E6C2D248-7A82-0D08-B26C-2A811F604A02}"/>
              </a:ext>
            </a:extLst>
          </p:cNvPr>
          <p:cNvSpPr/>
          <p:nvPr/>
        </p:nvSpPr>
        <p:spPr>
          <a:xfrm>
            <a:off x="5669280" y="3337560"/>
            <a:ext cx="2926080" cy="18288"/>
          </a:xfrm>
          <a:prstGeom prst="rect">
            <a:avLst/>
          </a:prstGeom>
          <a:solidFill>
            <a:srgbClr val="D6DBE5"/>
          </a:solidFill>
          <a:ln/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0FA0CF9-F451-5F97-3A0F-2E9E23D16DD0}"/>
              </a:ext>
            </a:extLst>
          </p:cNvPr>
          <p:cNvSpPr/>
          <p:nvPr/>
        </p:nvSpPr>
        <p:spPr>
          <a:xfrm>
            <a:off x="5669280" y="34747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ru-RU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Эмбеддинги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«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коробки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 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дают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0.2 balanced accuracy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F1.</a:t>
            </a:r>
            <a:endParaRPr lang="en-US" sz="1100" dirty="0"/>
          </a:p>
          <a:p>
            <a:pPr>
              <a:lnSpc>
                <a:spcPts val="1500"/>
              </a:lnSpc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доменной </a:t>
            </a:r>
            <a:r>
              <a:rPr lang="en-US" sz="11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адаптации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&gt; 0.5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и 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F1.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B0A857B-39D6-CE53-8E4B-586056FFB49A}"/>
              </a:ext>
            </a:extLst>
          </p:cNvPr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Text 17">
            <a:extLst>
              <a:ext uri="{FF2B5EF4-FFF2-40B4-BE49-F238E27FC236}">
                <a16:creationId xmlns:a16="http://schemas.microsoft.com/office/drawing/2014/main" id="{FAD12574-2FF1-040E-AEDB-E61F8DE3B91E}"/>
              </a:ext>
            </a:extLst>
          </p:cNvPr>
          <p:cNvSpPr/>
          <p:nvPr/>
        </p:nvSpPr>
        <p:spPr>
          <a:xfrm>
            <a:off x="5669280" y="2583181"/>
            <a:ext cx="3108960" cy="251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accuracy</a:t>
            </a:r>
            <a:r>
              <a:rPr lang="en-US" sz="1100" dirty="0"/>
              <a:t> </a:t>
            </a: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абсолютный максимум работы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8079521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Композитные</a:t>
            </a: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представления TF-IDF ⊕ BERT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</a:t>
            </a: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объединить лексические и контекстные признаки и оценить эффект.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5544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+ char n-граммы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разреженный вектор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14600" y="16916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880360" y="150876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F4F6FA"/>
          </a:solidFill>
          <a:ln w="12700">
            <a:solidFill>
              <a:srgbClr val="0B53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036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(custom)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80360" y="19202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доменно адаптированный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эмбеддер, плотный вектор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rot="5400000">
            <a:off x="5349240" y="1783080"/>
            <a:ext cx="182880" cy="182880"/>
          </a:xfrm>
          <a:prstGeom prst="rtTriangle">
            <a:avLst/>
          </a:prstGeom>
          <a:solidFill>
            <a:srgbClr val="0B5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0" y="1508760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0B5394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1554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Hybrid-вектор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669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</a:t>
            </a:r>
            <a:r>
              <a:rPr lang="ru-RU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Ridge/ LogReg / MLP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697480"/>
            <a:ext cx="4114800" cy="192024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на hybrid (custom)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30632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0.543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548640" y="3749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— абсолютный максимум работы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Композитное пространство + дообученный эмбеддер дают лучший общий баланс точности и полноты.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697480"/>
            <a:ext cx="4114800" cy="1920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LinearSVC на hybrid (custom)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0.541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4846320" y="3749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F1 — почти максимум, при простоте линейной модели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46320" y="40690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Минимальный разрыв с MLP: при сильных признаках сложный классификатор почти не нужен.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hd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202" name="htx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ru-RU" sz="2400" b="1" dirty="0">
                <a:solidFill>
                  <a:srgbClr val="FFFFFF"/>
                </a:solidFill>
                <a:latin typeface="Calibri"/>
              </a:rPr>
              <a:t>Сводное сравнение подходов на открытых данных</a:t>
            </a:r>
          </a:p>
        </p:txBody>
      </p:sp>
      <p:sp>
        <p:nvSpPr>
          <p:cNvPr id="203" name="sub"/>
          <p:cNvSpPr/>
          <p:nvPr/>
        </p:nvSpPr>
        <p:spPr>
          <a:xfrm>
            <a:off x="365760" y="870000"/>
            <a:ext cx="8412480" cy="2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100" i="1" dirty="0">
                <a:solidFill>
                  <a:srgbClr val="5C5C5C"/>
                </a:solidFill>
                <a:latin typeface="Calibri"/>
              </a:rPr>
              <a:t>Лучшие конфигурации по каждому подходу; пары — без аугментации / с аугментацией</a:t>
            </a:r>
          </a:p>
        </p:txBody>
      </p:sp>
      <p:sp>
        <p:nvSpPr>
          <p:cNvPr id="204" name="h0"/>
          <p:cNvSpPr/>
          <p:nvPr/>
        </p:nvSpPr>
        <p:spPr>
          <a:xfrm>
            <a:off x="365760" y="1280000"/>
            <a:ext cx="1700000" cy="380000"/>
          </a:xfrm>
          <a:prstGeom prst="rect">
            <a:avLst/>
          </a:prstGeom>
          <a:solidFill>
            <a:srgbClr val="0B5394"/>
          </a:solidFill>
          <a:ln w="9525">
            <a:solidFill>
              <a:srgbClr val="0B5394"/>
            </a:solidFill>
          </a:ln>
        </p:spPr>
      </p:sp>
      <p:sp>
        <p:nvSpPr>
          <p:cNvPr id="205" name="ht0"/>
          <p:cNvSpPr/>
          <p:nvPr/>
        </p:nvSpPr>
        <p:spPr>
          <a:xfrm>
            <a:off x="365760" y="1280000"/>
            <a:ext cx="1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100" b="1" dirty="0">
                <a:solidFill>
                  <a:srgbClr val="FFFFFF"/>
                </a:solidFill>
                <a:latin typeface="Calibri"/>
              </a:rPr>
              <a:t>Подход</a:t>
            </a:r>
          </a:p>
        </p:txBody>
      </p:sp>
      <p:sp>
        <p:nvSpPr>
          <p:cNvPr id="206" name="h1"/>
          <p:cNvSpPr/>
          <p:nvPr/>
        </p:nvSpPr>
        <p:spPr>
          <a:xfrm>
            <a:off x="2065760" y="1280000"/>
            <a:ext cx="2100000" cy="380000"/>
          </a:xfrm>
          <a:prstGeom prst="rect">
            <a:avLst/>
          </a:prstGeom>
          <a:solidFill>
            <a:srgbClr val="0B5394"/>
          </a:solidFill>
          <a:ln w="9525">
            <a:solidFill>
              <a:srgbClr val="0B5394"/>
            </a:solidFill>
          </a:ln>
        </p:spPr>
      </p:sp>
      <p:sp>
        <p:nvSpPr>
          <p:cNvPr id="207" name="ht1"/>
          <p:cNvSpPr/>
          <p:nvPr/>
        </p:nvSpPr>
        <p:spPr>
          <a:xfrm>
            <a:off x="2065760" y="1280000"/>
            <a:ext cx="21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100" b="1" dirty="0">
                <a:solidFill>
                  <a:srgbClr val="FFFFFF"/>
                </a:solidFill>
                <a:latin typeface="Calibri"/>
              </a:rPr>
              <a:t>Представление</a:t>
            </a:r>
          </a:p>
        </p:txBody>
      </p:sp>
      <p:sp>
        <p:nvSpPr>
          <p:cNvPr id="208" name="h2"/>
          <p:cNvSpPr/>
          <p:nvPr/>
        </p:nvSpPr>
        <p:spPr>
          <a:xfrm>
            <a:off x="4165760" y="1280000"/>
            <a:ext cx="2100000" cy="380000"/>
          </a:xfrm>
          <a:prstGeom prst="rect">
            <a:avLst/>
          </a:prstGeom>
          <a:solidFill>
            <a:srgbClr val="0B5394"/>
          </a:solidFill>
          <a:ln w="9525">
            <a:solidFill>
              <a:srgbClr val="0B5394"/>
            </a:solidFill>
          </a:ln>
        </p:spPr>
      </p:sp>
      <p:sp>
        <p:nvSpPr>
          <p:cNvPr id="209" name="ht2"/>
          <p:cNvSpPr/>
          <p:nvPr/>
        </p:nvSpPr>
        <p:spPr>
          <a:xfrm>
            <a:off x="4165760" y="1280000"/>
            <a:ext cx="21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100" b="1" dirty="0">
                <a:solidFill>
                  <a:srgbClr val="FFFFFF"/>
                </a:solidFill>
                <a:latin typeface="Calibri"/>
              </a:rPr>
              <a:t>Алгоритм</a:t>
            </a:r>
          </a:p>
        </p:txBody>
      </p:sp>
      <p:sp>
        <p:nvSpPr>
          <p:cNvPr id="210" name="h3"/>
          <p:cNvSpPr/>
          <p:nvPr/>
        </p:nvSpPr>
        <p:spPr>
          <a:xfrm>
            <a:off x="6265760" y="1280000"/>
            <a:ext cx="1230000" cy="380000"/>
          </a:xfrm>
          <a:prstGeom prst="rect">
            <a:avLst/>
          </a:prstGeom>
          <a:solidFill>
            <a:srgbClr val="0B5394"/>
          </a:solidFill>
          <a:ln w="9525">
            <a:solidFill>
              <a:srgbClr val="0B5394"/>
            </a:solidFill>
          </a:ln>
        </p:spPr>
      </p:sp>
      <p:sp>
        <p:nvSpPr>
          <p:cNvPr id="211" name="ht3"/>
          <p:cNvSpPr/>
          <p:nvPr/>
        </p:nvSpPr>
        <p:spPr>
          <a:xfrm>
            <a:off x="6265760" y="1280000"/>
            <a:ext cx="123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100" b="1" dirty="0">
                <a:solidFill>
                  <a:srgbClr val="FFFFFF"/>
                </a:solidFill>
                <a:latin typeface="Calibri"/>
              </a:rPr>
              <a:t>BAcc</a:t>
            </a:r>
          </a:p>
        </p:txBody>
      </p:sp>
      <p:sp>
        <p:nvSpPr>
          <p:cNvPr id="212" name="h4"/>
          <p:cNvSpPr/>
          <p:nvPr/>
        </p:nvSpPr>
        <p:spPr>
          <a:xfrm>
            <a:off x="7495760" y="1280000"/>
            <a:ext cx="1280000" cy="380000"/>
          </a:xfrm>
          <a:prstGeom prst="rect">
            <a:avLst/>
          </a:prstGeom>
          <a:solidFill>
            <a:srgbClr val="0B5394"/>
          </a:solidFill>
          <a:ln w="9525">
            <a:solidFill>
              <a:srgbClr val="0B5394"/>
            </a:solidFill>
          </a:ln>
        </p:spPr>
      </p:sp>
      <p:sp>
        <p:nvSpPr>
          <p:cNvPr id="213" name="ht4"/>
          <p:cNvSpPr/>
          <p:nvPr/>
        </p:nvSpPr>
        <p:spPr>
          <a:xfrm>
            <a:off x="7495760" y="1280000"/>
            <a:ext cx="128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100" b="1" dirty="0">
                <a:solidFill>
                  <a:srgbClr val="FFFFFF"/>
                </a:solidFill>
                <a:latin typeface="Calibri"/>
              </a:rPr>
              <a:t>Macro F1</a:t>
            </a:r>
          </a:p>
        </p:txBody>
      </p:sp>
      <p:sp>
        <p:nvSpPr>
          <p:cNvPr id="214" name="r0c0"/>
          <p:cNvSpPr/>
          <p:nvPr/>
        </p:nvSpPr>
        <p:spPr>
          <a:xfrm>
            <a:off x="365760" y="1660000"/>
            <a:ext cx="17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15" name="r0c0t"/>
          <p:cNvSpPr/>
          <p:nvPr/>
        </p:nvSpPr>
        <p:spPr>
          <a:xfrm>
            <a:off x="365760" y="1660000"/>
            <a:ext cx="17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1A1A1A"/>
                </a:solidFill>
                <a:latin typeface="Calibri"/>
              </a:rPr>
              <a:t>Baseline TF-IDF</a:t>
            </a:r>
          </a:p>
        </p:txBody>
      </p:sp>
      <p:sp>
        <p:nvSpPr>
          <p:cNvPr id="216" name="r0c1"/>
          <p:cNvSpPr/>
          <p:nvPr/>
        </p:nvSpPr>
        <p:spPr>
          <a:xfrm>
            <a:off x="2065760" y="166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17" name="r0c1t"/>
          <p:cNvSpPr/>
          <p:nvPr/>
        </p:nvSpPr>
        <p:spPr>
          <a:xfrm>
            <a:off x="2065760" y="166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TF-IDF (word+char)</a:t>
            </a:r>
          </a:p>
        </p:txBody>
      </p:sp>
      <p:sp>
        <p:nvSpPr>
          <p:cNvPr id="218" name="r0c2"/>
          <p:cNvSpPr/>
          <p:nvPr/>
        </p:nvSpPr>
        <p:spPr>
          <a:xfrm>
            <a:off x="4165760" y="166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19" name="r0c2t"/>
          <p:cNvSpPr/>
          <p:nvPr/>
        </p:nvSpPr>
        <p:spPr>
          <a:xfrm>
            <a:off x="4165760" y="166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LinearSVC</a:t>
            </a:r>
          </a:p>
        </p:txBody>
      </p:sp>
      <p:sp>
        <p:nvSpPr>
          <p:cNvPr id="220" name="r0c3"/>
          <p:cNvSpPr/>
          <p:nvPr/>
        </p:nvSpPr>
        <p:spPr>
          <a:xfrm>
            <a:off x="6265760" y="1660000"/>
            <a:ext cx="123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  <p:txBody>
          <a:bodyPr/>
          <a:lstStyle/>
          <a:p>
            <a:endParaRPr lang="ru-RU" dirty="0"/>
          </a:p>
        </p:txBody>
      </p:sp>
      <p:sp>
        <p:nvSpPr>
          <p:cNvPr id="221" name="r0c3t"/>
          <p:cNvSpPr/>
          <p:nvPr/>
        </p:nvSpPr>
        <p:spPr>
          <a:xfrm>
            <a:off x="6265760" y="1660000"/>
            <a:ext cx="123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0.534 / 0.489</a:t>
            </a:r>
          </a:p>
        </p:txBody>
      </p:sp>
      <p:sp>
        <p:nvSpPr>
          <p:cNvPr id="223" name="r0c4t"/>
          <p:cNvSpPr/>
          <p:nvPr/>
        </p:nvSpPr>
        <p:spPr>
          <a:xfrm>
            <a:off x="6880760" y="786636"/>
            <a:ext cx="12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endParaRPr lang="ru-RU" sz="105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224" name="r1c0"/>
          <p:cNvSpPr/>
          <p:nvPr/>
        </p:nvSpPr>
        <p:spPr>
          <a:xfrm>
            <a:off x="365760" y="2140000"/>
            <a:ext cx="17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25" name="r1c0t"/>
          <p:cNvSpPr/>
          <p:nvPr/>
        </p:nvSpPr>
        <p:spPr>
          <a:xfrm>
            <a:off x="365760" y="2140000"/>
            <a:ext cx="17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1A1A1A"/>
                </a:solidFill>
                <a:latin typeface="Calibri"/>
              </a:rPr>
              <a:t>BERT-классификация</a:t>
            </a:r>
          </a:p>
        </p:txBody>
      </p:sp>
      <p:sp>
        <p:nvSpPr>
          <p:cNvPr id="226" name="r1c1"/>
          <p:cNvSpPr/>
          <p:nvPr/>
        </p:nvSpPr>
        <p:spPr>
          <a:xfrm>
            <a:off x="2065760" y="214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27" name="r1c1t"/>
          <p:cNvSpPr/>
          <p:nvPr/>
        </p:nvSpPr>
        <p:spPr>
          <a:xfrm>
            <a:off x="2065760" y="214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BERT custom</a:t>
            </a:r>
          </a:p>
        </p:txBody>
      </p:sp>
      <p:sp>
        <p:nvSpPr>
          <p:cNvPr id="228" name="r1c2"/>
          <p:cNvSpPr/>
          <p:nvPr/>
        </p:nvSpPr>
        <p:spPr>
          <a:xfrm>
            <a:off x="4165760" y="214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29" name="r1c2t"/>
          <p:cNvSpPr/>
          <p:nvPr/>
        </p:nvSpPr>
        <p:spPr>
          <a:xfrm>
            <a:off x="4165760" y="214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chunk-mean head</a:t>
            </a:r>
          </a:p>
        </p:txBody>
      </p:sp>
      <p:sp>
        <p:nvSpPr>
          <p:cNvPr id="230" name="r1c3"/>
          <p:cNvSpPr/>
          <p:nvPr/>
        </p:nvSpPr>
        <p:spPr>
          <a:xfrm>
            <a:off x="6265760" y="2140000"/>
            <a:ext cx="123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31" name="r1c3t"/>
          <p:cNvSpPr/>
          <p:nvPr/>
        </p:nvSpPr>
        <p:spPr>
          <a:xfrm>
            <a:off x="6265760" y="2140000"/>
            <a:ext cx="123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0.454 / 0.501</a:t>
            </a:r>
          </a:p>
        </p:txBody>
      </p:sp>
      <p:sp>
        <p:nvSpPr>
          <p:cNvPr id="232" name="r1c4"/>
          <p:cNvSpPr/>
          <p:nvPr/>
        </p:nvSpPr>
        <p:spPr>
          <a:xfrm>
            <a:off x="7495760" y="2140000"/>
            <a:ext cx="128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33" name="r1c4t"/>
          <p:cNvSpPr/>
          <p:nvPr/>
        </p:nvSpPr>
        <p:spPr>
          <a:xfrm>
            <a:off x="7495760" y="2140000"/>
            <a:ext cx="12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0.443 / 0.504</a:t>
            </a:r>
          </a:p>
        </p:txBody>
      </p:sp>
      <p:sp>
        <p:nvSpPr>
          <p:cNvPr id="234" name="r2c0"/>
          <p:cNvSpPr/>
          <p:nvPr/>
        </p:nvSpPr>
        <p:spPr>
          <a:xfrm>
            <a:off x="365760" y="2620000"/>
            <a:ext cx="17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35" name="r2c0t"/>
          <p:cNvSpPr/>
          <p:nvPr/>
        </p:nvSpPr>
        <p:spPr>
          <a:xfrm>
            <a:off x="365760" y="2620000"/>
            <a:ext cx="17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1A1A1A"/>
                </a:solidFill>
                <a:latin typeface="Calibri"/>
              </a:rPr>
              <a:t>Cosine similarity</a:t>
            </a:r>
          </a:p>
        </p:txBody>
      </p:sp>
      <p:sp>
        <p:nvSpPr>
          <p:cNvPr id="236" name="r2c1"/>
          <p:cNvSpPr/>
          <p:nvPr/>
        </p:nvSpPr>
        <p:spPr>
          <a:xfrm>
            <a:off x="2065760" y="262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37" name="r2c1t"/>
          <p:cNvSpPr/>
          <p:nvPr/>
        </p:nvSpPr>
        <p:spPr>
          <a:xfrm>
            <a:off x="2065760" y="262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BERT custom</a:t>
            </a:r>
          </a:p>
        </p:txBody>
      </p:sp>
      <p:sp>
        <p:nvSpPr>
          <p:cNvPr id="238" name="r2c2"/>
          <p:cNvSpPr/>
          <p:nvPr/>
        </p:nvSpPr>
        <p:spPr>
          <a:xfrm>
            <a:off x="4165760" y="262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39" name="r2c2t"/>
          <p:cNvSpPr/>
          <p:nvPr/>
        </p:nvSpPr>
        <p:spPr>
          <a:xfrm>
            <a:off x="4165760" y="262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Centroid (soft)</a:t>
            </a:r>
          </a:p>
        </p:txBody>
      </p:sp>
      <p:sp>
        <p:nvSpPr>
          <p:cNvPr id="240" name="r2c3"/>
          <p:cNvSpPr/>
          <p:nvPr/>
        </p:nvSpPr>
        <p:spPr>
          <a:xfrm>
            <a:off x="6265760" y="2620000"/>
            <a:ext cx="1230000" cy="480000"/>
          </a:xfrm>
          <a:prstGeom prst="rect">
            <a:avLst/>
          </a:prstGeom>
          <a:solidFill>
            <a:srgbClr val="D6E4F2"/>
          </a:solidFill>
          <a:ln w="9525">
            <a:solidFill>
              <a:srgbClr val="D6DBE5"/>
            </a:solidFill>
          </a:ln>
        </p:spPr>
      </p:sp>
      <p:sp>
        <p:nvSpPr>
          <p:cNvPr id="241" name="r2c3t"/>
          <p:cNvSpPr/>
          <p:nvPr/>
        </p:nvSpPr>
        <p:spPr>
          <a:xfrm>
            <a:off x="6265760" y="2620000"/>
            <a:ext cx="123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b="1" dirty="0">
                <a:solidFill>
                  <a:srgbClr val="0B5394"/>
                </a:solidFill>
                <a:latin typeface="Calibri"/>
              </a:rPr>
              <a:t>0.578</a:t>
            </a:r>
            <a:r>
              <a:rPr lang="ru-RU" sz="1050" dirty="0">
                <a:solidFill>
                  <a:srgbClr val="5C5C5C"/>
                </a:solidFill>
                <a:latin typeface="Calibri"/>
              </a:rPr>
              <a:t> / </a:t>
            </a:r>
            <a:r>
              <a:rPr lang="ru-RU" sz="1050" dirty="0">
                <a:solidFill>
                  <a:srgbClr val="1A1A1A"/>
                </a:solidFill>
                <a:latin typeface="Calibri"/>
              </a:rPr>
              <a:t>0.476</a:t>
            </a:r>
          </a:p>
        </p:txBody>
      </p:sp>
      <p:sp>
        <p:nvSpPr>
          <p:cNvPr id="242" name="r2c4"/>
          <p:cNvSpPr/>
          <p:nvPr/>
        </p:nvSpPr>
        <p:spPr>
          <a:xfrm>
            <a:off x="7495760" y="2620000"/>
            <a:ext cx="128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43" name="r2c4t"/>
          <p:cNvSpPr/>
          <p:nvPr/>
        </p:nvSpPr>
        <p:spPr>
          <a:xfrm>
            <a:off x="7495760" y="2620000"/>
            <a:ext cx="12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0.508 / 0.470</a:t>
            </a:r>
          </a:p>
        </p:txBody>
      </p:sp>
      <p:sp>
        <p:nvSpPr>
          <p:cNvPr id="244" name="r3c0"/>
          <p:cNvSpPr/>
          <p:nvPr/>
        </p:nvSpPr>
        <p:spPr>
          <a:xfrm>
            <a:off x="365760" y="3100000"/>
            <a:ext cx="17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45" name="r3c0t"/>
          <p:cNvSpPr/>
          <p:nvPr/>
        </p:nvSpPr>
        <p:spPr>
          <a:xfrm>
            <a:off x="365760" y="3100000"/>
            <a:ext cx="17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1A1A1A"/>
                </a:solidFill>
                <a:latin typeface="Calibri"/>
              </a:rPr>
              <a:t>Линейная на гибриде</a:t>
            </a:r>
          </a:p>
        </p:txBody>
      </p:sp>
      <p:sp>
        <p:nvSpPr>
          <p:cNvPr id="246" name="r3c1"/>
          <p:cNvSpPr/>
          <p:nvPr/>
        </p:nvSpPr>
        <p:spPr>
          <a:xfrm>
            <a:off x="2065760" y="310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47" name="r3c1t"/>
          <p:cNvSpPr/>
          <p:nvPr/>
        </p:nvSpPr>
        <p:spPr>
          <a:xfrm>
            <a:off x="2065760" y="310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TF-IDF (word+char) ⊕ BERT</a:t>
            </a:r>
          </a:p>
        </p:txBody>
      </p:sp>
      <p:sp>
        <p:nvSpPr>
          <p:cNvPr id="248" name="r3c2"/>
          <p:cNvSpPr/>
          <p:nvPr/>
        </p:nvSpPr>
        <p:spPr>
          <a:xfrm>
            <a:off x="4165760" y="310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49" name="r3c2t"/>
          <p:cNvSpPr/>
          <p:nvPr/>
        </p:nvSpPr>
        <p:spPr>
          <a:xfrm>
            <a:off x="4165760" y="310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LinearSVC</a:t>
            </a:r>
          </a:p>
        </p:txBody>
      </p:sp>
      <p:sp>
        <p:nvSpPr>
          <p:cNvPr id="250" name="r3c3"/>
          <p:cNvSpPr/>
          <p:nvPr/>
        </p:nvSpPr>
        <p:spPr>
          <a:xfrm>
            <a:off x="6265760" y="3100000"/>
            <a:ext cx="123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51" name="r3c3t"/>
          <p:cNvSpPr/>
          <p:nvPr/>
        </p:nvSpPr>
        <p:spPr>
          <a:xfrm>
            <a:off x="6265760" y="3100000"/>
            <a:ext cx="123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0.526 / 0.446</a:t>
            </a:r>
          </a:p>
        </p:txBody>
      </p:sp>
      <p:sp>
        <p:nvSpPr>
          <p:cNvPr id="252" name="r3c4"/>
          <p:cNvSpPr/>
          <p:nvPr/>
        </p:nvSpPr>
        <p:spPr>
          <a:xfrm>
            <a:off x="7495760" y="3100000"/>
            <a:ext cx="128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53" name="r3c4t"/>
          <p:cNvSpPr/>
          <p:nvPr/>
        </p:nvSpPr>
        <p:spPr>
          <a:xfrm>
            <a:off x="7495760" y="3100000"/>
            <a:ext cx="12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0.541 / 0.463</a:t>
            </a:r>
          </a:p>
        </p:txBody>
      </p:sp>
      <p:sp>
        <p:nvSpPr>
          <p:cNvPr id="254" name="r4c0"/>
          <p:cNvSpPr/>
          <p:nvPr/>
        </p:nvSpPr>
        <p:spPr>
          <a:xfrm>
            <a:off x="365760" y="3580000"/>
            <a:ext cx="17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55" name="r4c0t"/>
          <p:cNvSpPr/>
          <p:nvPr/>
        </p:nvSpPr>
        <p:spPr>
          <a:xfrm>
            <a:off x="365760" y="3580000"/>
            <a:ext cx="17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1A1A1A"/>
                </a:solidFill>
                <a:latin typeface="Calibri"/>
              </a:rPr>
              <a:t>MLP на гибриде</a:t>
            </a:r>
          </a:p>
        </p:txBody>
      </p:sp>
      <p:sp>
        <p:nvSpPr>
          <p:cNvPr id="256" name="r4c1"/>
          <p:cNvSpPr/>
          <p:nvPr/>
        </p:nvSpPr>
        <p:spPr>
          <a:xfrm>
            <a:off x="2065760" y="358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57" name="r4c1t"/>
          <p:cNvSpPr/>
          <p:nvPr/>
        </p:nvSpPr>
        <p:spPr>
          <a:xfrm>
            <a:off x="2065760" y="358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TF-IDF (word+char) ⊕ BERT</a:t>
            </a:r>
          </a:p>
        </p:txBody>
      </p:sp>
      <p:sp>
        <p:nvSpPr>
          <p:cNvPr id="258" name="r4c2"/>
          <p:cNvSpPr/>
          <p:nvPr/>
        </p:nvSpPr>
        <p:spPr>
          <a:xfrm>
            <a:off x="4165760" y="358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59" name="r4c2t"/>
          <p:cNvSpPr/>
          <p:nvPr/>
        </p:nvSpPr>
        <p:spPr>
          <a:xfrm>
            <a:off x="4165760" y="358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StrongMLP</a:t>
            </a:r>
          </a:p>
        </p:txBody>
      </p:sp>
      <p:sp>
        <p:nvSpPr>
          <p:cNvPr id="260" name="r4c3"/>
          <p:cNvSpPr/>
          <p:nvPr/>
        </p:nvSpPr>
        <p:spPr>
          <a:xfrm>
            <a:off x="6265760" y="3580000"/>
            <a:ext cx="123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61" name="r4c3t"/>
          <p:cNvSpPr/>
          <p:nvPr/>
        </p:nvSpPr>
        <p:spPr>
          <a:xfrm>
            <a:off x="6265760" y="3580000"/>
            <a:ext cx="123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0.498 / 0.413</a:t>
            </a:r>
          </a:p>
        </p:txBody>
      </p:sp>
      <p:sp>
        <p:nvSpPr>
          <p:cNvPr id="262" name="r4c4"/>
          <p:cNvSpPr/>
          <p:nvPr/>
        </p:nvSpPr>
        <p:spPr>
          <a:xfrm>
            <a:off x="7495760" y="3580000"/>
            <a:ext cx="1280000" cy="480000"/>
          </a:xfrm>
          <a:prstGeom prst="rect">
            <a:avLst/>
          </a:prstGeom>
          <a:solidFill>
            <a:srgbClr val="D6E4F2"/>
          </a:solidFill>
          <a:ln w="9525">
            <a:solidFill>
              <a:srgbClr val="D6DBE5"/>
            </a:solidFill>
          </a:ln>
        </p:spPr>
      </p:sp>
      <p:sp>
        <p:nvSpPr>
          <p:cNvPr id="263" name="r4c4t"/>
          <p:cNvSpPr/>
          <p:nvPr/>
        </p:nvSpPr>
        <p:spPr>
          <a:xfrm>
            <a:off x="7495760" y="3580000"/>
            <a:ext cx="12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b="1" dirty="0">
                <a:solidFill>
                  <a:srgbClr val="0B5394"/>
                </a:solidFill>
                <a:latin typeface="Calibri"/>
              </a:rPr>
              <a:t>0.54</a:t>
            </a:r>
            <a:r>
              <a:rPr lang="en-US" sz="1050" b="1" dirty="0">
                <a:solidFill>
                  <a:srgbClr val="0B5394"/>
                </a:solidFill>
                <a:latin typeface="Calibri"/>
              </a:rPr>
              <a:t>5</a:t>
            </a:r>
            <a:r>
              <a:rPr lang="ru-RU" sz="1050" dirty="0">
                <a:solidFill>
                  <a:srgbClr val="5C5C5C"/>
                </a:solidFill>
                <a:latin typeface="Calibri"/>
              </a:rPr>
              <a:t> / </a:t>
            </a:r>
            <a:r>
              <a:rPr lang="ru-RU" sz="1050" dirty="0">
                <a:solidFill>
                  <a:srgbClr val="1A1A1A"/>
                </a:solidFill>
                <a:latin typeface="Calibri"/>
              </a:rPr>
              <a:t>0.46</a:t>
            </a:r>
            <a:r>
              <a:rPr lang="en-US" sz="1050" dirty="0">
                <a:solidFill>
                  <a:srgbClr val="1A1A1A"/>
                </a:solidFill>
                <a:latin typeface="Calibri"/>
              </a:rPr>
              <a:t>3</a:t>
            </a:r>
            <a:endParaRPr lang="ru-RU" sz="1050" dirty="0">
              <a:solidFill>
                <a:srgbClr val="1A1A1A"/>
              </a:solidFill>
              <a:latin typeface="Calibri"/>
            </a:endParaRPr>
          </a:p>
        </p:txBody>
      </p:sp>
      <p:sp>
        <p:nvSpPr>
          <p:cNvPr id="264" name="foot_bg"/>
          <p:cNvSpPr/>
          <p:nvPr/>
        </p:nvSpPr>
        <p:spPr>
          <a:xfrm>
            <a:off x="365760" y="4280000"/>
            <a:ext cx="8410000" cy="513500"/>
          </a:xfrm>
          <a:prstGeom prst="roundRect">
            <a:avLst>
              <a:gd name="adj" fmla="val 3500"/>
            </a:avLst>
          </a:prstGeom>
          <a:solidFill>
            <a:srgbClr val="F4F6FA"/>
          </a:solidFill>
          <a:ln w="9525">
            <a:solidFill>
              <a:srgbClr val="D6DBE5"/>
            </a:solidFill>
          </a:ln>
        </p:spPr>
      </p:sp>
      <p:sp>
        <p:nvSpPr>
          <p:cNvPr id="265" name="foot_t"/>
          <p:cNvSpPr/>
          <p:nvPr/>
        </p:nvSpPr>
        <p:spPr>
          <a:xfrm>
            <a:off x="605760" y="4340000"/>
            <a:ext cx="7930000" cy="393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/>
          <a:lstStyle/>
          <a:p>
            <a:pPr marL="0" indent="0">
              <a:buNone/>
            </a:pPr>
            <a:r>
              <a:rPr lang="ru-RU" sz="1000" b="1" dirty="0">
                <a:solidFill>
                  <a:srgbClr val="0B5394"/>
                </a:solidFill>
                <a:latin typeface="Calibri"/>
              </a:rPr>
              <a:t>Вывод: </a:t>
            </a:r>
            <a:r>
              <a:rPr lang="ru-RU" sz="1000" dirty="0">
                <a:solidFill>
                  <a:srgbClr val="1A1A1A"/>
                </a:solidFill>
                <a:latin typeface="Calibri"/>
              </a:rPr>
              <a:t>на открытых данных лидеры разные: </a:t>
            </a:r>
            <a:r>
              <a:rPr lang="ru-RU" sz="1000" b="1" dirty="0">
                <a:solidFill>
                  <a:srgbClr val="1A1A1A"/>
                </a:solidFill>
                <a:latin typeface="Calibri"/>
              </a:rPr>
              <a:t>BAcc</a:t>
            </a:r>
            <a:r>
              <a:rPr lang="ru-RU" sz="1000" dirty="0">
                <a:solidFill>
                  <a:srgbClr val="1A1A1A"/>
                </a:solidFill>
                <a:latin typeface="Calibri"/>
              </a:rPr>
              <a:t> — Cosine similarity на дообученном BERT (0.578), </a:t>
            </a:r>
            <a:r>
              <a:rPr lang="ru-RU" sz="1000" b="1" dirty="0">
                <a:solidFill>
                  <a:srgbClr val="1A1A1A"/>
                </a:solidFill>
                <a:latin typeface="Calibri"/>
              </a:rPr>
              <a:t>Macro F1</a:t>
            </a:r>
            <a:r>
              <a:rPr lang="ru-RU" sz="1000" dirty="0">
                <a:solidFill>
                  <a:srgbClr val="1A1A1A"/>
                </a:solidFill>
                <a:latin typeface="Calibri"/>
              </a:rPr>
              <a:t> — MLP на композите TF-IDF ⊕ BERT (0.54</a:t>
            </a:r>
            <a:r>
              <a:rPr lang="en-US" sz="1000" dirty="0">
                <a:solidFill>
                  <a:srgbClr val="1A1A1A"/>
                </a:solidFill>
                <a:latin typeface="Calibri"/>
              </a:rPr>
              <a:t>5</a:t>
            </a:r>
            <a:r>
              <a:rPr lang="ru-RU" sz="1000" dirty="0">
                <a:solidFill>
                  <a:srgbClr val="1A1A1A"/>
                </a:solidFill>
                <a:latin typeface="Calibri"/>
              </a:rPr>
              <a:t>). Аугментация на этом датасете не даёт выигрыша — выборка уже сбалансирована.</a:t>
            </a:r>
          </a:p>
        </p:txBody>
      </p:sp>
      <p:sp>
        <p:nvSpPr>
          <p:cNvPr id="266" name="pn"/>
          <p:cNvSpPr/>
          <p:nvPr/>
        </p:nvSpPr>
        <p:spPr>
          <a:xfrm>
            <a:off x="8444000" y="4763500"/>
            <a:ext cx="5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r">
              <a:buNone/>
            </a:pPr>
            <a:r>
              <a:rPr lang="ru-RU" sz="900" dirty="0">
                <a:solidFill>
                  <a:srgbClr val="5C5C5C"/>
                </a:solidFill>
                <a:latin typeface="Calibri"/>
              </a:rPr>
              <a:t>12</a:t>
            </a:r>
          </a:p>
        </p:txBody>
      </p:sp>
      <p:sp>
        <p:nvSpPr>
          <p:cNvPr id="8" name="r1c4">
            <a:extLst>
              <a:ext uri="{FF2B5EF4-FFF2-40B4-BE49-F238E27FC236}">
                <a16:creationId xmlns:a16="http://schemas.microsoft.com/office/drawing/2014/main" id="{6F8FDC7F-3194-539C-0858-1825CEE25D66}"/>
              </a:ext>
            </a:extLst>
          </p:cNvPr>
          <p:cNvSpPr/>
          <p:nvPr/>
        </p:nvSpPr>
        <p:spPr>
          <a:xfrm>
            <a:off x="7495760" y="1660000"/>
            <a:ext cx="128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9" name="r1c4t">
            <a:extLst>
              <a:ext uri="{FF2B5EF4-FFF2-40B4-BE49-F238E27FC236}">
                <a16:creationId xmlns:a16="http://schemas.microsoft.com/office/drawing/2014/main" id="{3489B8E1-4AEB-D763-247A-406A3D5DC2ED}"/>
              </a:ext>
            </a:extLst>
          </p:cNvPr>
          <p:cNvSpPr/>
          <p:nvPr/>
        </p:nvSpPr>
        <p:spPr>
          <a:xfrm>
            <a:off x="7495760" y="1673364"/>
            <a:ext cx="12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</a:t>
            </a:r>
            <a:r>
              <a:rPr lang="en-US" sz="1050" dirty="0">
                <a:solidFill>
                  <a:srgbClr val="1A1A1A"/>
                </a:solidFill>
                <a:latin typeface="Calibri"/>
              </a:rPr>
              <a:t>5</a:t>
            </a:r>
            <a:r>
              <a:rPr lang="ru-RU" sz="1050" dirty="0">
                <a:solidFill>
                  <a:srgbClr val="1A1A1A"/>
                </a:solidFill>
                <a:latin typeface="Calibri"/>
              </a:rPr>
              <a:t>43 / 0.</a:t>
            </a:r>
            <a:r>
              <a:rPr lang="en-US" sz="1050" dirty="0">
                <a:solidFill>
                  <a:srgbClr val="1A1A1A"/>
                </a:solidFill>
                <a:latin typeface="Calibri"/>
              </a:rPr>
              <a:t>486</a:t>
            </a:r>
            <a:endParaRPr lang="ru-RU" sz="1050" dirty="0">
              <a:solidFill>
                <a:srgbClr val="1A1A1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hd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202" name="htx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ru-RU" sz="2400" b="1" dirty="0">
                <a:solidFill>
                  <a:srgbClr val="FFFFFF"/>
                </a:solidFill>
                <a:latin typeface="Calibri"/>
              </a:rPr>
              <a:t>Сводное сравнение подходов на закрытых данных</a:t>
            </a:r>
          </a:p>
        </p:txBody>
      </p:sp>
      <p:sp>
        <p:nvSpPr>
          <p:cNvPr id="203" name="sub"/>
          <p:cNvSpPr/>
          <p:nvPr/>
        </p:nvSpPr>
        <p:spPr>
          <a:xfrm>
            <a:off x="365760" y="870000"/>
            <a:ext cx="8412480" cy="2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100" i="1" dirty="0">
                <a:solidFill>
                  <a:srgbClr val="5C5C5C"/>
                </a:solidFill>
                <a:latin typeface="Calibri"/>
              </a:rPr>
              <a:t>Лучшие конфигурации по каждому подходу; пары — без аугментации / с аугментацией</a:t>
            </a:r>
          </a:p>
        </p:txBody>
      </p:sp>
      <p:sp>
        <p:nvSpPr>
          <p:cNvPr id="204" name="h0"/>
          <p:cNvSpPr/>
          <p:nvPr/>
        </p:nvSpPr>
        <p:spPr>
          <a:xfrm>
            <a:off x="365760" y="1280000"/>
            <a:ext cx="1700000" cy="380000"/>
          </a:xfrm>
          <a:prstGeom prst="rect">
            <a:avLst/>
          </a:prstGeom>
          <a:solidFill>
            <a:srgbClr val="0B5394"/>
          </a:solidFill>
          <a:ln w="9525">
            <a:solidFill>
              <a:srgbClr val="0B5394"/>
            </a:solidFill>
          </a:ln>
        </p:spPr>
      </p:sp>
      <p:sp>
        <p:nvSpPr>
          <p:cNvPr id="205" name="ht0"/>
          <p:cNvSpPr/>
          <p:nvPr/>
        </p:nvSpPr>
        <p:spPr>
          <a:xfrm>
            <a:off x="365760" y="1280000"/>
            <a:ext cx="1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100" b="1" dirty="0">
                <a:solidFill>
                  <a:srgbClr val="FFFFFF"/>
                </a:solidFill>
                <a:latin typeface="Calibri"/>
              </a:rPr>
              <a:t>Подход</a:t>
            </a:r>
          </a:p>
        </p:txBody>
      </p:sp>
      <p:sp>
        <p:nvSpPr>
          <p:cNvPr id="206" name="h1"/>
          <p:cNvSpPr/>
          <p:nvPr/>
        </p:nvSpPr>
        <p:spPr>
          <a:xfrm>
            <a:off x="2065760" y="1280000"/>
            <a:ext cx="2100000" cy="380000"/>
          </a:xfrm>
          <a:prstGeom prst="rect">
            <a:avLst/>
          </a:prstGeom>
          <a:solidFill>
            <a:srgbClr val="0B5394"/>
          </a:solidFill>
          <a:ln w="9525">
            <a:solidFill>
              <a:srgbClr val="0B5394"/>
            </a:solidFill>
          </a:ln>
        </p:spPr>
      </p:sp>
      <p:sp>
        <p:nvSpPr>
          <p:cNvPr id="207" name="ht1"/>
          <p:cNvSpPr/>
          <p:nvPr/>
        </p:nvSpPr>
        <p:spPr>
          <a:xfrm>
            <a:off x="2065760" y="1280000"/>
            <a:ext cx="21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100" b="1" dirty="0">
                <a:solidFill>
                  <a:srgbClr val="FFFFFF"/>
                </a:solidFill>
                <a:latin typeface="Calibri"/>
              </a:rPr>
              <a:t>Представление</a:t>
            </a:r>
          </a:p>
        </p:txBody>
      </p:sp>
      <p:sp>
        <p:nvSpPr>
          <p:cNvPr id="208" name="h2"/>
          <p:cNvSpPr/>
          <p:nvPr/>
        </p:nvSpPr>
        <p:spPr>
          <a:xfrm>
            <a:off x="4165760" y="1280000"/>
            <a:ext cx="2100000" cy="380000"/>
          </a:xfrm>
          <a:prstGeom prst="rect">
            <a:avLst/>
          </a:prstGeom>
          <a:solidFill>
            <a:srgbClr val="0B5394"/>
          </a:solidFill>
          <a:ln w="9525">
            <a:solidFill>
              <a:srgbClr val="0B5394"/>
            </a:solidFill>
          </a:ln>
        </p:spPr>
      </p:sp>
      <p:sp>
        <p:nvSpPr>
          <p:cNvPr id="209" name="ht2"/>
          <p:cNvSpPr/>
          <p:nvPr/>
        </p:nvSpPr>
        <p:spPr>
          <a:xfrm>
            <a:off x="4165760" y="1280000"/>
            <a:ext cx="21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100" b="1" dirty="0">
                <a:solidFill>
                  <a:srgbClr val="FFFFFF"/>
                </a:solidFill>
                <a:latin typeface="Calibri"/>
              </a:rPr>
              <a:t>Алгоритм</a:t>
            </a:r>
          </a:p>
        </p:txBody>
      </p:sp>
      <p:sp>
        <p:nvSpPr>
          <p:cNvPr id="210" name="h3"/>
          <p:cNvSpPr/>
          <p:nvPr/>
        </p:nvSpPr>
        <p:spPr>
          <a:xfrm>
            <a:off x="6265760" y="1280000"/>
            <a:ext cx="1230000" cy="380000"/>
          </a:xfrm>
          <a:prstGeom prst="rect">
            <a:avLst/>
          </a:prstGeom>
          <a:solidFill>
            <a:srgbClr val="0B5394"/>
          </a:solidFill>
          <a:ln w="9525">
            <a:solidFill>
              <a:srgbClr val="0B5394"/>
            </a:solidFill>
          </a:ln>
        </p:spPr>
      </p:sp>
      <p:sp>
        <p:nvSpPr>
          <p:cNvPr id="211" name="ht3"/>
          <p:cNvSpPr/>
          <p:nvPr/>
        </p:nvSpPr>
        <p:spPr>
          <a:xfrm>
            <a:off x="6265760" y="1280000"/>
            <a:ext cx="123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100" b="1" dirty="0">
                <a:solidFill>
                  <a:srgbClr val="FFFFFF"/>
                </a:solidFill>
                <a:latin typeface="Calibri"/>
              </a:rPr>
              <a:t>BAcc</a:t>
            </a:r>
          </a:p>
        </p:txBody>
      </p:sp>
      <p:sp>
        <p:nvSpPr>
          <p:cNvPr id="212" name="h4"/>
          <p:cNvSpPr/>
          <p:nvPr/>
        </p:nvSpPr>
        <p:spPr>
          <a:xfrm>
            <a:off x="7495760" y="1280000"/>
            <a:ext cx="1280000" cy="380000"/>
          </a:xfrm>
          <a:prstGeom prst="rect">
            <a:avLst/>
          </a:prstGeom>
          <a:solidFill>
            <a:srgbClr val="0B5394"/>
          </a:solidFill>
          <a:ln w="9525">
            <a:solidFill>
              <a:srgbClr val="0B5394"/>
            </a:solidFill>
          </a:ln>
        </p:spPr>
      </p:sp>
      <p:sp>
        <p:nvSpPr>
          <p:cNvPr id="213" name="ht4"/>
          <p:cNvSpPr/>
          <p:nvPr/>
        </p:nvSpPr>
        <p:spPr>
          <a:xfrm>
            <a:off x="7495760" y="1280000"/>
            <a:ext cx="128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100" b="1" dirty="0">
                <a:solidFill>
                  <a:srgbClr val="FFFFFF"/>
                </a:solidFill>
                <a:latin typeface="Calibri"/>
              </a:rPr>
              <a:t>Macro F1</a:t>
            </a:r>
          </a:p>
        </p:txBody>
      </p:sp>
      <p:sp>
        <p:nvSpPr>
          <p:cNvPr id="214" name="r0c0"/>
          <p:cNvSpPr/>
          <p:nvPr/>
        </p:nvSpPr>
        <p:spPr>
          <a:xfrm>
            <a:off x="365760" y="1660000"/>
            <a:ext cx="17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15" name="r0c0t"/>
          <p:cNvSpPr/>
          <p:nvPr/>
        </p:nvSpPr>
        <p:spPr>
          <a:xfrm>
            <a:off x="365760" y="1660000"/>
            <a:ext cx="17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1A1A1A"/>
                </a:solidFill>
                <a:latin typeface="Calibri"/>
              </a:rPr>
              <a:t>Baseline TF-IDF</a:t>
            </a:r>
          </a:p>
        </p:txBody>
      </p:sp>
      <p:sp>
        <p:nvSpPr>
          <p:cNvPr id="216" name="r0c1"/>
          <p:cNvSpPr/>
          <p:nvPr/>
        </p:nvSpPr>
        <p:spPr>
          <a:xfrm>
            <a:off x="2065760" y="166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17" name="r0c1t"/>
          <p:cNvSpPr/>
          <p:nvPr/>
        </p:nvSpPr>
        <p:spPr>
          <a:xfrm>
            <a:off x="2065760" y="166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TF-IDF (word+char)</a:t>
            </a:r>
          </a:p>
        </p:txBody>
      </p:sp>
      <p:sp>
        <p:nvSpPr>
          <p:cNvPr id="218" name="r0c2"/>
          <p:cNvSpPr/>
          <p:nvPr/>
        </p:nvSpPr>
        <p:spPr>
          <a:xfrm>
            <a:off x="4165760" y="166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19" name="r0c2t"/>
          <p:cNvSpPr/>
          <p:nvPr/>
        </p:nvSpPr>
        <p:spPr>
          <a:xfrm>
            <a:off x="4165760" y="166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LinearSVC</a:t>
            </a:r>
          </a:p>
        </p:txBody>
      </p:sp>
      <p:sp>
        <p:nvSpPr>
          <p:cNvPr id="220" name="r0c3"/>
          <p:cNvSpPr/>
          <p:nvPr/>
        </p:nvSpPr>
        <p:spPr>
          <a:xfrm>
            <a:off x="6265760" y="1660000"/>
            <a:ext cx="123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21" name="r0c3t"/>
          <p:cNvSpPr/>
          <p:nvPr/>
        </p:nvSpPr>
        <p:spPr>
          <a:xfrm>
            <a:off x="6265760" y="1660000"/>
            <a:ext cx="123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A1A1A"/>
                </a:solidFill>
                <a:latin typeface="Calibri"/>
              </a:rPr>
              <a:t>0.604 / </a:t>
            </a:r>
            <a:r>
              <a:rPr lang="ru-RU" sz="1050" dirty="0">
                <a:solidFill>
                  <a:srgbClr val="1A1A1A"/>
                </a:solidFill>
                <a:latin typeface="Calibri"/>
              </a:rPr>
              <a:t>0.579</a:t>
            </a:r>
          </a:p>
        </p:txBody>
      </p:sp>
      <p:sp>
        <p:nvSpPr>
          <p:cNvPr id="222" name="r0c4"/>
          <p:cNvSpPr/>
          <p:nvPr/>
        </p:nvSpPr>
        <p:spPr>
          <a:xfrm>
            <a:off x="7495760" y="1660000"/>
            <a:ext cx="128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23" name="r0c4t"/>
          <p:cNvSpPr/>
          <p:nvPr/>
        </p:nvSpPr>
        <p:spPr>
          <a:xfrm>
            <a:off x="7495760" y="1660000"/>
            <a:ext cx="12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A1A1A"/>
                </a:solidFill>
                <a:latin typeface="Calibri"/>
              </a:rPr>
              <a:t>0.611 / </a:t>
            </a:r>
            <a:r>
              <a:rPr lang="ru-RU" sz="1050" dirty="0">
                <a:solidFill>
                  <a:srgbClr val="1A1A1A"/>
                </a:solidFill>
                <a:latin typeface="Calibri"/>
              </a:rPr>
              <a:t>0.582</a:t>
            </a:r>
          </a:p>
        </p:txBody>
      </p:sp>
      <p:sp>
        <p:nvSpPr>
          <p:cNvPr id="224" name="r1c0"/>
          <p:cNvSpPr/>
          <p:nvPr/>
        </p:nvSpPr>
        <p:spPr>
          <a:xfrm>
            <a:off x="365760" y="2140000"/>
            <a:ext cx="17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25" name="r1c0t"/>
          <p:cNvSpPr/>
          <p:nvPr/>
        </p:nvSpPr>
        <p:spPr>
          <a:xfrm>
            <a:off x="365760" y="2140000"/>
            <a:ext cx="17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1A1A1A"/>
                </a:solidFill>
                <a:latin typeface="Calibri"/>
              </a:rPr>
              <a:t>BERT-классификация</a:t>
            </a:r>
          </a:p>
        </p:txBody>
      </p:sp>
      <p:sp>
        <p:nvSpPr>
          <p:cNvPr id="226" name="r1c1"/>
          <p:cNvSpPr/>
          <p:nvPr/>
        </p:nvSpPr>
        <p:spPr>
          <a:xfrm>
            <a:off x="2065760" y="214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27" name="r1c1t"/>
          <p:cNvSpPr/>
          <p:nvPr/>
        </p:nvSpPr>
        <p:spPr>
          <a:xfrm>
            <a:off x="2065760" y="214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BERT custom</a:t>
            </a:r>
          </a:p>
        </p:txBody>
      </p:sp>
      <p:sp>
        <p:nvSpPr>
          <p:cNvPr id="228" name="r1c2"/>
          <p:cNvSpPr/>
          <p:nvPr/>
        </p:nvSpPr>
        <p:spPr>
          <a:xfrm>
            <a:off x="4165760" y="214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29" name="r1c2t"/>
          <p:cNvSpPr/>
          <p:nvPr/>
        </p:nvSpPr>
        <p:spPr>
          <a:xfrm>
            <a:off x="4165760" y="214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chunk-mean head</a:t>
            </a:r>
          </a:p>
        </p:txBody>
      </p:sp>
      <p:sp>
        <p:nvSpPr>
          <p:cNvPr id="230" name="r1c3"/>
          <p:cNvSpPr/>
          <p:nvPr/>
        </p:nvSpPr>
        <p:spPr>
          <a:xfrm>
            <a:off x="6265760" y="2140000"/>
            <a:ext cx="123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31" name="r1c3t"/>
          <p:cNvSpPr/>
          <p:nvPr/>
        </p:nvSpPr>
        <p:spPr>
          <a:xfrm>
            <a:off x="6265760" y="2140000"/>
            <a:ext cx="123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0.474 / 0.572</a:t>
            </a:r>
          </a:p>
        </p:txBody>
      </p:sp>
      <p:sp>
        <p:nvSpPr>
          <p:cNvPr id="232" name="r1c4"/>
          <p:cNvSpPr/>
          <p:nvPr/>
        </p:nvSpPr>
        <p:spPr>
          <a:xfrm>
            <a:off x="7495760" y="2140000"/>
            <a:ext cx="128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33" name="r1c4t"/>
          <p:cNvSpPr/>
          <p:nvPr/>
        </p:nvSpPr>
        <p:spPr>
          <a:xfrm>
            <a:off x="7495760" y="2140000"/>
            <a:ext cx="12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0.490 / 0.595</a:t>
            </a:r>
          </a:p>
        </p:txBody>
      </p:sp>
      <p:sp>
        <p:nvSpPr>
          <p:cNvPr id="234" name="r2c0"/>
          <p:cNvSpPr/>
          <p:nvPr/>
        </p:nvSpPr>
        <p:spPr>
          <a:xfrm>
            <a:off x="365760" y="2620000"/>
            <a:ext cx="17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35" name="r2c0t"/>
          <p:cNvSpPr/>
          <p:nvPr/>
        </p:nvSpPr>
        <p:spPr>
          <a:xfrm>
            <a:off x="365760" y="2620000"/>
            <a:ext cx="17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1A1A1A"/>
                </a:solidFill>
                <a:latin typeface="Calibri"/>
              </a:rPr>
              <a:t>Cosine similarity</a:t>
            </a:r>
          </a:p>
        </p:txBody>
      </p:sp>
      <p:sp>
        <p:nvSpPr>
          <p:cNvPr id="236" name="r2c1"/>
          <p:cNvSpPr/>
          <p:nvPr/>
        </p:nvSpPr>
        <p:spPr>
          <a:xfrm>
            <a:off x="2065760" y="262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37" name="r2c1t"/>
          <p:cNvSpPr/>
          <p:nvPr/>
        </p:nvSpPr>
        <p:spPr>
          <a:xfrm>
            <a:off x="2065760" y="262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BERT custom</a:t>
            </a:r>
          </a:p>
        </p:txBody>
      </p:sp>
      <p:sp>
        <p:nvSpPr>
          <p:cNvPr id="238" name="r2c2"/>
          <p:cNvSpPr/>
          <p:nvPr/>
        </p:nvSpPr>
        <p:spPr>
          <a:xfrm>
            <a:off x="4165760" y="262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39" name="r2c2t"/>
          <p:cNvSpPr/>
          <p:nvPr/>
        </p:nvSpPr>
        <p:spPr>
          <a:xfrm>
            <a:off x="4165760" y="262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Centroid (soft)</a:t>
            </a:r>
          </a:p>
        </p:txBody>
      </p:sp>
      <p:sp>
        <p:nvSpPr>
          <p:cNvPr id="240" name="r2c3"/>
          <p:cNvSpPr/>
          <p:nvPr/>
        </p:nvSpPr>
        <p:spPr>
          <a:xfrm>
            <a:off x="6265760" y="2620000"/>
            <a:ext cx="123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41" name="r2c3t"/>
          <p:cNvSpPr/>
          <p:nvPr/>
        </p:nvSpPr>
        <p:spPr>
          <a:xfrm>
            <a:off x="6265760" y="2620000"/>
            <a:ext cx="123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0.548 / 0.584</a:t>
            </a:r>
          </a:p>
        </p:txBody>
      </p:sp>
      <p:sp>
        <p:nvSpPr>
          <p:cNvPr id="242" name="r2c4"/>
          <p:cNvSpPr/>
          <p:nvPr/>
        </p:nvSpPr>
        <p:spPr>
          <a:xfrm>
            <a:off x="7495760" y="2620000"/>
            <a:ext cx="128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43" name="r2c4t"/>
          <p:cNvSpPr/>
          <p:nvPr/>
        </p:nvSpPr>
        <p:spPr>
          <a:xfrm>
            <a:off x="7495760" y="2620000"/>
            <a:ext cx="12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0.516 / 0.610</a:t>
            </a:r>
          </a:p>
        </p:txBody>
      </p:sp>
      <p:sp>
        <p:nvSpPr>
          <p:cNvPr id="244" name="r3c0"/>
          <p:cNvSpPr/>
          <p:nvPr/>
        </p:nvSpPr>
        <p:spPr>
          <a:xfrm>
            <a:off x="365760" y="3100000"/>
            <a:ext cx="17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45" name="r3c0t"/>
          <p:cNvSpPr/>
          <p:nvPr/>
        </p:nvSpPr>
        <p:spPr>
          <a:xfrm>
            <a:off x="365760" y="3100000"/>
            <a:ext cx="17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1A1A1A"/>
                </a:solidFill>
                <a:latin typeface="Calibri"/>
              </a:rPr>
              <a:t>Линейная на гибриде</a:t>
            </a:r>
          </a:p>
        </p:txBody>
      </p:sp>
      <p:sp>
        <p:nvSpPr>
          <p:cNvPr id="246" name="r3c1"/>
          <p:cNvSpPr/>
          <p:nvPr/>
        </p:nvSpPr>
        <p:spPr>
          <a:xfrm>
            <a:off x="2065760" y="310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47" name="r3c1t"/>
          <p:cNvSpPr/>
          <p:nvPr/>
        </p:nvSpPr>
        <p:spPr>
          <a:xfrm>
            <a:off x="2065760" y="310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TF-IDF (word+char) ⊕ BERT</a:t>
            </a:r>
          </a:p>
        </p:txBody>
      </p:sp>
      <p:sp>
        <p:nvSpPr>
          <p:cNvPr id="248" name="r3c2"/>
          <p:cNvSpPr/>
          <p:nvPr/>
        </p:nvSpPr>
        <p:spPr>
          <a:xfrm>
            <a:off x="4165760" y="310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49" name="r3c2t"/>
          <p:cNvSpPr/>
          <p:nvPr/>
        </p:nvSpPr>
        <p:spPr>
          <a:xfrm>
            <a:off x="4165760" y="310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RidgeClassifier</a:t>
            </a:r>
          </a:p>
        </p:txBody>
      </p:sp>
      <p:sp>
        <p:nvSpPr>
          <p:cNvPr id="250" name="r3c3"/>
          <p:cNvSpPr/>
          <p:nvPr/>
        </p:nvSpPr>
        <p:spPr>
          <a:xfrm>
            <a:off x="6265760" y="3100000"/>
            <a:ext cx="123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51" name="r3c3t"/>
          <p:cNvSpPr/>
          <p:nvPr/>
        </p:nvSpPr>
        <p:spPr>
          <a:xfrm>
            <a:off x="6265760" y="3100000"/>
            <a:ext cx="123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0.568 / 0.597</a:t>
            </a:r>
          </a:p>
        </p:txBody>
      </p:sp>
      <p:sp>
        <p:nvSpPr>
          <p:cNvPr id="252" name="r3c4"/>
          <p:cNvSpPr/>
          <p:nvPr/>
        </p:nvSpPr>
        <p:spPr>
          <a:xfrm>
            <a:off x="7495760" y="3100000"/>
            <a:ext cx="128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53" name="r3c4t"/>
          <p:cNvSpPr/>
          <p:nvPr/>
        </p:nvSpPr>
        <p:spPr>
          <a:xfrm>
            <a:off x="7495760" y="3100000"/>
            <a:ext cx="12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0.588 / 0.623</a:t>
            </a:r>
          </a:p>
        </p:txBody>
      </p:sp>
      <p:sp>
        <p:nvSpPr>
          <p:cNvPr id="254" name="r4c0"/>
          <p:cNvSpPr/>
          <p:nvPr/>
        </p:nvSpPr>
        <p:spPr>
          <a:xfrm>
            <a:off x="365760" y="3580000"/>
            <a:ext cx="17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55" name="r4c0t"/>
          <p:cNvSpPr/>
          <p:nvPr/>
        </p:nvSpPr>
        <p:spPr>
          <a:xfrm>
            <a:off x="365760" y="3580000"/>
            <a:ext cx="17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1000" dirty="0">
                <a:solidFill>
                  <a:srgbClr val="1A1A1A"/>
                </a:solidFill>
                <a:latin typeface="Calibri"/>
              </a:rPr>
              <a:t>MLP на гибриде</a:t>
            </a:r>
          </a:p>
        </p:txBody>
      </p:sp>
      <p:sp>
        <p:nvSpPr>
          <p:cNvPr id="256" name="r4c1"/>
          <p:cNvSpPr/>
          <p:nvPr/>
        </p:nvSpPr>
        <p:spPr>
          <a:xfrm>
            <a:off x="2065760" y="358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57" name="r4c1t"/>
          <p:cNvSpPr/>
          <p:nvPr/>
        </p:nvSpPr>
        <p:spPr>
          <a:xfrm>
            <a:off x="2065760" y="358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TF-IDF (word+char) ⊕ BERT</a:t>
            </a:r>
          </a:p>
        </p:txBody>
      </p:sp>
      <p:sp>
        <p:nvSpPr>
          <p:cNvPr id="258" name="r4c2"/>
          <p:cNvSpPr/>
          <p:nvPr/>
        </p:nvSpPr>
        <p:spPr>
          <a:xfrm>
            <a:off x="4165760" y="3580000"/>
            <a:ext cx="2100000" cy="4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BE5"/>
            </a:solidFill>
          </a:ln>
        </p:spPr>
      </p:sp>
      <p:sp>
        <p:nvSpPr>
          <p:cNvPr id="259" name="r4c2t"/>
          <p:cNvSpPr/>
          <p:nvPr/>
        </p:nvSpPr>
        <p:spPr>
          <a:xfrm>
            <a:off x="4165760" y="3580000"/>
            <a:ext cx="210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>
              <a:buNone/>
            </a:pPr>
            <a:r>
              <a:rPr lang="ru-RU" sz="950" dirty="0">
                <a:solidFill>
                  <a:srgbClr val="1A1A1A"/>
                </a:solidFill>
                <a:latin typeface="Calibri"/>
              </a:rPr>
              <a:t>StrongMLP</a:t>
            </a:r>
          </a:p>
        </p:txBody>
      </p:sp>
      <p:sp>
        <p:nvSpPr>
          <p:cNvPr id="260" name="r4c3"/>
          <p:cNvSpPr/>
          <p:nvPr/>
        </p:nvSpPr>
        <p:spPr>
          <a:xfrm>
            <a:off x="6265760" y="3580000"/>
            <a:ext cx="1230000" cy="480000"/>
          </a:xfrm>
          <a:prstGeom prst="rect">
            <a:avLst/>
          </a:prstGeom>
          <a:solidFill>
            <a:srgbClr val="D6E4F2"/>
          </a:solidFill>
          <a:ln w="9525">
            <a:solidFill>
              <a:srgbClr val="D6DBE5"/>
            </a:solidFill>
          </a:ln>
        </p:spPr>
      </p:sp>
      <p:sp>
        <p:nvSpPr>
          <p:cNvPr id="261" name="r4c3t"/>
          <p:cNvSpPr/>
          <p:nvPr/>
        </p:nvSpPr>
        <p:spPr>
          <a:xfrm>
            <a:off x="6265760" y="3580000"/>
            <a:ext cx="123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b="1" dirty="0">
                <a:solidFill>
                  <a:srgbClr val="0B5394"/>
                </a:solidFill>
                <a:latin typeface="Calibri"/>
              </a:rPr>
              <a:t>0.608</a:t>
            </a:r>
            <a:r>
              <a:rPr lang="ru-RU" sz="1050" dirty="0">
                <a:solidFill>
                  <a:srgbClr val="5C5C5C"/>
                </a:solidFill>
                <a:latin typeface="Calibri"/>
              </a:rPr>
              <a:t> / </a:t>
            </a:r>
            <a:r>
              <a:rPr lang="ru-RU" sz="1050" dirty="0">
                <a:solidFill>
                  <a:srgbClr val="1A1A1A"/>
                </a:solidFill>
                <a:latin typeface="Calibri"/>
              </a:rPr>
              <a:t>0.599</a:t>
            </a:r>
          </a:p>
        </p:txBody>
      </p:sp>
      <p:sp>
        <p:nvSpPr>
          <p:cNvPr id="262" name="r4c4"/>
          <p:cNvSpPr/>
          <p:nvPr/>
        </p:nvSpPr>
        <p:spPr>
          <a:xfrm>
            <a:off x="7495760" y="3580000"/>
            <a:ext cx="1280000" cy="480000"/>
          </a:xfrm>
          <a:prstGeom prst="rect">
            <a:avLst/>
          </a:prstGeom>
          <a:solidFill>
            <a:srgbClr val="D6E4F2"/>
          </a:solidFill>
          <a:ln w="9525">
            <a:solidFill>
              <a:srgbClr val="D6DBE5"/>
            </a:solidFill>
          </a:ln>
        </p:spPr>
      </p:sp>
      <p:sp>
        <p:nvSpPr>
          <p:cNvPr id="263" name="r4c4t"/>
          <p:cNvSpPr/>
          <p:nvPr/>
        </p:nvSpPr>
        <p:spPr>
          <a:xfrm>
            <a:off x="7495760" y="3580000"/>
            <a:ext cx="12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ctr">
              <a:buNone/>
            </a:pPr>
            <a:r>
              <a:rPr lang="ru-RU" sz="1050" dirty="0">
                <a:solidFill>
                  <a:srgbClr val="1A1A1A"/>
                </a:solidFill>
                <a:latin typeface="Calibri"/>
              </a:rPr>
              <a:t>0.622</a:t>
            </a:r>
            <a:r>
              <a:rPr lang="ru-RU" sz="1050" dirty="0">
                <a:solidFill>
                  <a:srgbClr val="5C5C5C"/>
                </a:solidFill>
                <a:latin typeface="Calibri"/>
              </a:rPr>
              <a:t> / </a:t>
            </a:r>
            <a:r>
              <a:rPr lang="ru-RU" sz="1050" b="1" dirty="0">
                <a:solidFill>
                  <a:srgbClr val="0B5394"/>
                </a:solidFill>
                <a:latin typeface="Calibri"/>
              </a:rPr>
              <a:t>0.625</a:t>
            </a:r>
          </a:p>
        </p:txBody>
      </p:sp>
      <p:sp>
        <p:nvSpPr>
          <p:cNvPr id="264" name="foot_bg"/>
          <p:cNvSpPr/>
          <p:nvPr/>
        </p:nvSpPr>
        <p:spPr>
          <a:xfrm>
            <a:off x="302741" y="4280000"/>
            <a:ext cx="8473019" cy="619454"/>
          </a:xfrm>
          <a:prstGeom prst="roundRect">
            <a:avLst>
              <a:gd name="adj" fmla="val 3500"/>
            </a:avLst>
          </a:prstGeom>
          <a:solidFill>
            <a:srgbClr val="F4F6FA"/>
          </a:solidFill>
          <a:ln w="9525">
            <a:solidFill>
              <a:srgbClr val="D6DBE5"/>
            </a:solidFill>
          </a:ln>
        </p:spPr>
      </p:sp>
      <p:sp>
        <p:nvSpPr>
          <p:cNvPr id="265" name="foot_t"/>
          <p:cNvSpPr/>
          <p:nvPr/>
        </p:nvSpPr>
        <p:spPr>
          <a:xfrm>
            <a:off x="605760" y="4340000"/>
            <a:ext cx="7930000" cy="3935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t"/>
          <a:lstStyle/>
          <a:p>
            <a:pPr marL="0" indent="0">
              <a:buNone/>
            </a:pPr>
            <a:r>
              <a:rPr lang="ru-RU" sz="1000" b="1" dirty="0">
                <a:solidFill>
                  <a:srgbClr val="0B5394"/>
                </a:solidFill>
                <a:latin typeface="Calibri"/>
              </a:rPr>
              <a:t>Вывод: </a:t>
            </a:r>
            <a:r>
              <a:rPr lang="ru-RU" sz="1000" dirty="0">
                <a:solidFill>
                  <a:srgbClr val="1A1A1A"/>
                </a:solidFill>
                <a:latin typeface="Calibri"/>
              </a:rPr>
              <a:t>на закрытых данных аугментация даёт прирост у плотных методов (BERT-head +0.10 F1, Cosine +0.09 F1, гибрид +0.03 F1). </a:t>
            </a:r>
            <a:r>
              <a:rPr lang="ru-RU" sz="1000" b="1" dirty="0">
                <a:solidFill>
                  <a:srgbClr val="1A1A1A"/>
                </a:solidFill>
                <a:latin typeface="Calibri"/>
              </a:rPr>
              <a:t>Главный результат работы: </a:t>
            </a:r>
            <a:r>
              <a:rPr lang="ru-RU" sz="1000" dirty="0">
                <a:solidFill>
                  <a:srgbClr val="1A1A1A"/>
                </a:solidFill>
                <a:latin typeface="Calibri"/>
              </a:rPr>
              <a:t>композитный вектор TF-IDF ⊕ BERT с StrongMLP и аугментацией — BAcc 0.608 / F1 0.625, лучшие по обеим метрикам, +0.029 BAcc и +0.043 F1 к фиксированному baseline.</a:t>
            </a:r>
          </a:p>
        </p:txBody>
      </p:sp>
      <p:sp>
        <p:nvSpPr>
          <p:cNvPr id="266" name="pn"/>
          <p:cNvSpPr/>
          <p:nvPr/>
        </p:nvSpPr>
        <p:spPr>
          <a:xfrm>
            <a:off x="8444000" y="4763500"/>
            <a:ext cx="50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8000" rIns="36000" bIns="18000" anchor="ctr"/>
          <a:lstStyle/>
          <a:p>
            <a:pPr marL="0" indent="0" algn="r">
              <a:buNone/>
            </a:pPr>
            <a:r>
              <a:rPr lang="ru-RU" sz="900" dirty="0">
                <a:solidFill>
                  <a:srgbClr val="5C5C5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Выводы. Цель достигнута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777240"/>
          </a:xfrm>
          <a:prstGeom prst="rect">
            <a:avLst/>
          </a:prstGeom>
          <a:solidFill>
            <a:srgbClr val="D6E4F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достигнута: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разработан воспроизводимый пайплайн классификации длинных русскоязычных деловых писем; реализованы и сравнены TF-IDF, BERT и композитные представления; получены метрики на единой выборке.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41376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14884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2103120"/>
            <a:ext cx="3360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Сила признаков важнее сложности модели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2560320"/>
            <a:ext cx="33604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сильных признаках LinearSVC почти не уступает MLP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40580" y="1965960"/>
            <a:ext cx="41376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23460" y="214884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3" name="Text 11"/>
          <p:cNvSpPr/>
          <p:nvPr/>
        </p:nvSpPr>
        <p:spPr>
          <a:xfrm>
            <a:off x="48234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26380" y="2103120"/>
            <a:ext cx="3360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Доменная адаптация — ключ к BERT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26380" y="2560320"/>
            <a:ext cx="33604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неё BERT-эмбеддинги уступают TF-IDF на узкодоменной задаче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429000"/>
            <a:ext cx="41376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61188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566160"/>
            <a:ext cx="3360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Композит даёт лучший macro F1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51560" y="4023360"/>
            <a:ext cx="33604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⊕ custom BERT — 0.625 F1 (MLP, с aug), абсолютный максимум работы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40580" y="3429000"/>
            <a:ext cx="41376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3460" y="3611880"/>
            <a:ext cx="365760" cy="365760"/>
          </a:xfrm>
          <a:prstGeom prst="ellipse">
            <a:avLst/>
          </a:prstGeom>
          <a:solidFill>
            <a:srgbClr val="0B5394"/>
          </a:solidFill>
          <a:ln/>
        </p:spPr>
      </p:sp>
      <p:sp>
        <p:nvSpPr>
          <p:cNvPr id="23" name="Text 21"/>
          <p:cNvSpPr/>
          <p:nvPr/>
        </p:nvSpPr>
        <p:spPr>
          <a:xfrm>
            <a:off x="482346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6380" y="3566160"/>
            <a:ext cx="3360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Аугментация</a:t>
            </a: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</a:t>
            </a: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универсальн</a:t>
            </a:r>
            <a:r>
              <a:rPr lang="ru-RU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326380" y="4023360"/>
            <a:ext cx="33604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ru-RU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закрытых данных аугментация даёт прирост F1: BERT-head +0.10, Cosine +0.09, гибрид +0.03. TF-IDF от aug не выигрывает.</a:t>
            </a:r>
            <a:endParaRPr lang="ru-RU" sz="1100" dirty="0"/>
          </a:p>
        </p:txBody>
      </p:sp>
      <p:sp>
        <p:nvSpPr>
          <p:cNvPr id="26" name="Text 24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значимость и перспективы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Практическая значимость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Модульный прототип пайплайна классификации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Применим для маршрутизации корпоративных писем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Адаптируемость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 новому домену: дообучение эмбеддера и пересборка TF-IDF на корпусе заказчика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31089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Перспективы развития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47472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мощные модели для длинных документов (Longformer)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обучаемые механизмы объединения TF-IDF </a:t>
            </a:r>
            <a:r>
              <a:rPr lang="en-US" sz="1200" dirty="0" err="1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BERT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005840"/>
            <a:ext cx="2834640" cy="3703320"/>
          </a:xfrm>
          <a:prstGeom prst="rect">
            <a:avLst/>
          </a:prstGeom>
          <a:solidFill>
            <a:srgbClr val="F4F6FA"/>
          </a:solidFill>
          <a:ln w="12700">
            <a:solidFill>
              <a:srgbClr val="D6DB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1143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с кодом</a:t>
            </a:r>
            <a:endParaRPr lang="en-US" sz="1300" dirty="0"/>
          </a:p>
        </p:txBody>
      </p:sp>
      <p:pic>
        <p:nvPicPr>
          <p:cNvPr id="10" name="Image 0" descr="/home/user/workspace/rep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54480"/>
            <a:ext cx="1828800" cy="1828800"/>
          </a:xfrm>
          <a:prstGeom prst="rect">
            <a:avLst/>
          </a:prstGeom>
        </p:spPr>
      </p:pic>
      <p:sp>
        <p:nvSpPr>
          <p:cNvPr id="11" name="Text 8">
            <a:hlinkClick r:id="rId4"/>
          </p:cNvPr>
          <p:cNvSpPr/>
          <p:nvPr/>
        </p:nvSpPr>
        <p:spPr>
          <a:xfrm>
            <a:off x="5943600" y="3474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u="sng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github.com/sevaTechoPark/mifi-vkr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943600" y="3794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весь код, данные и логи экспериментов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595360" y="4846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20230</TotalTime>
  <Words>1589</Words>
  <Application>Microsoft Macintosh PowerPoint</Application>
  <PresentationFormat>Экран (16:9)</PresentationFormat>
  <Paragraphs>287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ВКР Пападык В.Д. — защита</dc:title>
  <dc:subject>PptxGenJS Presentation</dc:subject>
  <dc:creator>PptxGenJS</dc:creator>
  <cp:lastModifiedBy>Vsevolod Papadyk</cp:lastModifiedBy>
  <cp:revision>16</cp:revision>
  <dcterms:created xsi:type="dcterms:W3CDTF">2026-05-30T09:41:16Z</dcterms:created>
  <dcterms:modified xsi:type="dcterms:W3CDTF">2026-06-14T15:23:21Z</dcterms:modified>
</cp:coreProperties>
</file>