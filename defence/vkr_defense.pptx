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5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6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67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AD0F-19D8-085D-51E9-705D8B43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67355-D05E-1F8F-76D4-1C1A691D8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EF3B6-3832-C12A-13D8-E9C763433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0967F-26DE-837E-F8D9-0069B4B84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22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2748-BAE1-6FB3-AA42-092E6DA2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B8FDA-FE14-7104-15BB-DE524607E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808FA-BC89-02CB-5EF6-429AD6D14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E2C02-5D2F-C9AF-3FBA-896CDF070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4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evaTechoPark/mifi-v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НИЯУ МИФИ · Институт интеллектуальных кибернетических систем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«Машинное обучение»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и применение композитных векторных представлений текста для многоклассовой классификации текстов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магистра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01.04.02 «Прикладная математика и информатика». Программа: Машинное обучение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Пападык Всеволод Дмитриевич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</a:t>
            </a:r>
            <a:r>
              <a:rPr lang="ru-RU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Золотарев Александр Маркович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· 15 июня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темы и проблематика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документооборот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переписка — это длинные тексты на русском, с типовыми деловыми оборотами, аббревиатурами и сильным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дисбалансом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подразделениям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u-RU" sz="13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endParaRPr lang="ru-RU" sz="1300" dirty="0"/>
          </a:p>
          <a:p>
            <a:pPr>
              <a:lnSpc>
                <a:spcPts val="2000"/>
              </a:lnSpc>
            </a:pP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аршрутизация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писем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подразделениям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неприятная задача, которая блокирует работу. Можно автоматизировать решив задачу </a:t>
            </a:r>
            <a:r>
              <a:rPr lang="ru-RU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многоклассовой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классификации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3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ru-RU" sz="13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Предобученные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 модели классификации не адаптированы к доменной специфике компании. Они не могут быть интегрированы в компанию как есть.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301752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59436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увеличивается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0B5394"/>
                </a:solidFill>
                <a:latin typeface="Calibri" pitchFamily="34" charset="0"/>
                <a:cs typeface="Calibri" pitchFamily="34" charset="-120"/>
              </a:rPr>
              <a:t>человеческий ресурс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уменьшается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эффективное решение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распространение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еще не повсеместное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работы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 исследовать пайплайн многоклассовой классификации длинных русскоязычных деловых писем на основе классических, нейросетевых, эмбеддинговых и композитных представлений текста.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328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данные, оценить распределение классов, длину текстов, дубликаты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990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TF-IDF baseline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BERT-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подходы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ruRoberta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-large,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чанкинг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Sentence-BERT)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447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композитные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представления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TF-IDF + BERT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дообученным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эмбеддером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904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предобработки</a:t>
            </a:r>
            <a:r>
              <a:rPr lang="ru-RU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данных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аугментации</a:t>
            </a:r>
            <a:r>
              <a:rPr lang="ru-RU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обучения всех моделей классификации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361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подходы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macro F1</a:t>
            </a:r>
            <a:r>
              <a:rPr lang="ru-RU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ru-RU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фиксированном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 и характеристика данных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Формальная постановка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 множество писем D = {d</a:t>
            </a:r>
            <a:r>
              <a:rPr lang="en-US" sz="12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}, каждому соответствует класс y</a:t>
            </a:r>
            <a:r>
              <a:rPr lang="en-US" sz="12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{1,…,K}, K = 36.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Найти: классификатор f: d → ŷ, максимизирующий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и macro F1 на отложенной выборке.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фиксированное train/test-разбиение; тестовые тексты не участвуют ни в обучении, ни в аугментации.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 датасета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письма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0195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9019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43230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24323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подразделений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96265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9626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единиц до сотен документов в классе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4930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3493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десятков тысяч токенов — превышает 512 BERT-токенов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40233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macro F1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пайплайна обработки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пайплайн: каждый этап изолирован </a:t>
            </a:r>
            <a:r>
              <a:rPr lang="en-US" sz="12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заменяем</a:t>
            </a:r>
            <a:r>
              <a:rPr lang="ru-RU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Можно обучиться на другом датасете без правок.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1938528" y="2212848"/>
            <a:ext cx="146304" cy="146304"/>
          </a:xfrm>
          <a:prstGeom prst="rtTriangle">
            <a:avLst/>
          </a:prstGeom>
          <a:solidFill>
            <a:srgbClr val="0B5394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155448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перефразирование,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</a:t>
            </a:r>
            <a:r>
              <a:rPr lang="ru-RU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атный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перевод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675888" y="2212848"/>
            <a:ext cx="146304" cy="146304"/>
          </a:xfrm>
          <a:prstGeom prst="rtTriangle">
            <a:avLst/>
          </a:prstGeom>
          <a:solidFill>
            <a:srgbClr val="0B5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55448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0574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Sentence-BERT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413248" y="2212848"/>
            <a:ext cx="146304" cy="146304"/>
          </a:xfrm>
          <a:prstGeom prst="rtTriangle">
            <a:avLst/>
          </a:prstGeom>
          <a:solidFill>
            <a:srgbClr val="0B53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155448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0574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⊕ BERT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50608" y="2212848"/>
            <a:ext cx="146304" cy="146304"/>
          </a:xfrm>
          <a:prstGeom prst="rtTriangle">
            <a:avLst/>
          </a:prstGeom>
          <a:solidFill>
            <a:srgbClr val="0B539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55448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20574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LinearSVC, LogReg,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MLP, Cosine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Реализация: Python, scikit-learn, HuggingFace Transformers, PyTorch. Все эксперименты воспроизводимы из репозитория.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200025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1817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линейные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181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на n-граммах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03170" y="3886200"/>
            <a:ext cx="200025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94610" y="3977640"/>
            <a:ext cx="1817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BERT-классификатор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94610" y="4343400"/>
            <a:ext cx="181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ruBERT, ruRoberta-large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0580" y="3886200"/>
            <a:ext cx="200025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2020" y="3977640"/>
            <a:ext cx="1817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Cosine-Centroid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2020" y="4343400"/>
            <a:ext cx="181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доменных эмбеддингах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77990" y="3886200"/>
            <a:ext cx="200025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9430" y="3977640"/>
            <a:ext cx="1817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Композитное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69430" y="4343400"/>
            <a:ext cx="181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⊕ дообученный BERT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аугментация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чистые, сбалансированные данные для обучения, не «протекая» в тест.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32461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и нормализация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HTML, подписей, дубликатов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регистра и пунктуации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устранение пересечений train/test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обрезка по длине для BERT-моделей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Зафиксированное разбиение. Тестовые тексты не используются ни при обучении, ни при аугментации, ни при дообучении эмбеддера.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14800" cy="32461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Текстовая аугментация (только train)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Перефразирование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нейросетевое переписывание формулировок для редких классов.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перевод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 →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ru-RU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es/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ru через OPUS-MT [23]; сохраняет смысл, меняет лексику.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увеличить вариативность редких классов и выровнять распределение.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3109E-0419-C383-482D-605BD8BF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DD257F-E0B4-4013-0A1C-BA6F63C9542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3942E3-98DB-19F3-931A-F121DE28DC25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Суммаризация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AA0D1F-8835-C429-DF2C-34F5F2748AF4}"/>
              </a:ext>
            </a:extLst>
          </p:cNvPr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датасеты для </a:t>
            </a:r>
            <a:r>
              <a:rPr lang="ru-RU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эксперементов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7161B29-8D29-41E4-DF78-B7E872CC10A1}"/>
              </a:ext>
            </a:extLst>
          </p:cNvPr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5642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baseline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сильную базовую линию на классических признаках.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 и char-n-граммы (объединённое признаковое пространство)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линейные модели: LinearSVC, LogisticRegression, RidgeClassifier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 для компенсации дисбаланса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[11] — TF-IDF + линейные классификаторы для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деловых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</a:t>
            </a: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сверхвысокие значения для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train.csv</a:t>
            </a:r>
            <a:r>
              <a:rPr lang="ru-RU" sz="12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 объясняется связью с очисткой данных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63040"/>
            <a:ext cx="3566160" cy="320040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</a:t>
            </a: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train_augmented.csv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79" y="1965960"/>
            <a:ext cx="3174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0.534 / 0.489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66928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 / 0.486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(LinearSVC, n-граммы)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линейные модели остаются конкурентоспособной базовой линией.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</a:t>
            </a:r>
            <a:r>
              <a:rPr lang="ru-RU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классификационной головой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плотные контекстные представления и доменную адаптацию.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Реализованные подходы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 [14] и ruRoberta-large [15] с классификационной головой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mean-pooling и чанкинг для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длинных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A2D636E-C3C3-8029-EE56-F32B18F2F8CE}"/>
              </a:ext>
            </a:extLst>
          </p:cNvPr>
          <p:cNvSpPr/>
          <p:nvPr/>
        </p:nvSpPr>
        <p:spPr>
          <a:xfrm>
            <a:off x="5486400" y="1463040"/>
            <a:ext cx="3566160" cy="320040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FB42272-FE90-A9A6-D186-7C48B115CE8C}"/>
              </a:ext>
            </a:extLst>
          </p:cNvPr>
          <p:cNvSpPr/>
          <p:nvPr/>
        </p:nvSpPr>
        <p:spPr>
          <a:xfrm>
            <a:off x="566928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</a:t>
            </a: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b="1" dirty="0" err="1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train_augmented.csv</a:t>
            </a:r>
            <a:endParaRPr lang="en-US" sz="13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E103425-E579-EEB5-20A0-279812DEBBCB}"/>
              </a:ext>
            </a:extLst>
          </p:cNvPr>
          <p:cNvSpPr/>
          <p:nvPr/>
        </p:nvSpPr>
        <p:spPr>
          <a:xfrm>
            <a:off x="5669279" y="1965960"/>
            <a:ext cx="3174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0.454 / 0.501</a:t>
            </a:r>
            <a:endParaRPr lang="en-US" sz="4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473758C-0E42-54EE-A23C-B000979F39BC}"/>
              </a:ext>
            </a:extLst>
          </p:cNvPr>
          <p:cNvSpPr/>
          <p:nvPr/>
        </p:nvSpPr>
        <p:spPr>
          <a:xfrm>
            <a:off x="566928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840FD6BD-3542-3AEF-336B-972AEC1D70CA}"/>
              </a:ext>
            </a:extLst>
          </p:cNvPr>
          <p:cNvSpPr/>
          <p:nvPr/>
        </p:nvSpPr>
        <p:spPr>
          <a:xfrm>
            <a:off x="56692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 / 0.504</a:t>
            </a:r>
            <a:endParaRPr lang="en-US" sz="36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DE0B774F-6CAD-E5D1-1E44-ADC6487CB3AD}"/>
              </a:ext>
            </a:extLst>
          </p:cNvPr>
          <p:cNvSpPr/>
          <p:nvPr/>
        </p:nvSpPr>
        <p:spPr>
          <a:xfrm>
            <a:off x="566928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825E2069-8FD0-774B-D4ED-FAC39D2AD61F}"/>
              </a:ext>
            </a:extLst>
          </p:cNvPr>
          <p:cNvSpPr/>
          <p:nvPr/>
        </p:nvSpPr>
        <p:spPr>
          <a:xfrm>
            <a:off x="566928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ru-RU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 помогла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</a:t>
            </a:r>
            <a:r>
              <a:rPr lang="ru-RU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классификатору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C96790-7A19-5E7E-A57C-B35128B5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1FF36C-C4FB-5B85-CC87-2807E07A89A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61F4DC-E08B-01C4-93CB-3BC0C21CD5AF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r>
              <a:rPr lang="ru-RU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ru-RU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эмбедингах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Sentence-BERT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53FE63-8A56-F6EB-B4CD-DD61EA4E5228}"/>
              </a:ext>
            </a:extLst>
          </p:cNvPr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плотные контекстные представления и доменную адаптацию.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FBCCB2-CEE7-A6CA-ED7E-2C68E474B654}"/>
              </a:ext>
            </a:extLst>
          </p:cNvPr>
          <p:cNvSpPr/>
          <p:nvPr/>
        </p:nvSpPr>
        <p:spPr>
          <a:xfrm>
            <a:off x="36576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Реализованные подходы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680114-68E6-9D8A-00AA-21FDFF4522E7}"/>
              </a:ext>
            </a:extLst>
          </p:cNvPr>
          <p:cNvSpPr/>
          <p:nvPr/>
        </p:nvSpPr>
        <p:spPr>
          <a:xfrm>
            <a:off x="365760" y="1783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[16] для извлечения эмбеддингов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доменная адаптация эмбеддера на train (custom-эмбеддер)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Cosine-Centroid: классификация по близости к центроиду класса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AF5AFF2-DAB8-4E15-FB18-59304BB3FCF6}"/>
              </a:ext>
            </a:extLst>
          </p:cNvPr>
          <p:cNvSpPr/>
          <p:nvPr/>
        </p:nvSpPr>
        <p:spPr>
          <a:xfrm>
            <a:off x="5486400" y="1463040"/>
            <a:ext cx="3465768" cy="320040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7F0FAE-2EB0-C4FE-0225-65C93E95D92C}"/>
              </a:ext>
            </a:extLst>
          </p:cNvPr>
          <p:cNvSpPr/>
          <p:nvPr/>
        </p:nvSpPr>
        <p:spPr>
          <a:xfrm>
            <a:off x="566928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результат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51BE6B-6A71-7917-5A0D-710A33AD3FA6}"/>
              </a:ext>
            </a:extLst>
          </p:cNvPr>
          <p:cNvSpPr/>
          <p:nvPr/>
        </p:nvSpPr>
        <p:spPr>
          <a:xfrm>
            <a:off x="566928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0.578</a:t>
            </a:r>
            <a:endParaRPr lang="en-US" sz="4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8AB7339-0679-B207-45B8-ED64C3FDF3C7}"/>
              </a:ext>
            </a:extLst>
          </p:cNvPr>
          <p:cNvSpPr/>
          <p:nvPr/>
        </p:nvSpPr>
        <p:spPr>
          <a:xfrm>
            <a:off x="566928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8B4A8C-C5D9-D60B-BA42-4F5B9AF5B593}"/>
              </a:ext>
            </a:extLst>
          </p:cNvPr>
          <p:cNvSpPr/>
          <p:nvPr/>
        </p:nvSpPr>
        <p:spPr>
          <a:xfrm>
            <a:off x="5669280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Cosine-Centroid на дообученных эмбеддингах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C2D248-7A82-0D08-B26C-2A811F604A02}"/>
              </a:ext>
            </a:extLst>
          </p:cNvPr>
          <p:cNvSpPr/>
          <p:nvPr/>
        </p:nvSpPr>
        <p:spPr>
          <a:xfrm>
            <a:off x="5669280" y="3337560"/>
            <a:ext cx="2926080" cy="18288"/>
          </a:xfrm>
          <a:prstGeom prst="rect">
            <a:avLst/>
          </a:prstGeom>
          <a:solidFill>
            <a:srgbClr val="D6DBE5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FA0CF9-F451-5F97-3A0F-2E9E23D16DD0}"/>
              </a:ext>
            </a:extLst>
          </p:cNvPr>
          <p:cNvSpPr/>
          <p:nvPr/>
        </p:nvSpPr>
        <p:spPr>
          <a:xfrm>
            <a:off x="566928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ru-RU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</a:t>
            </a:r>
            <a:r>
              <a:rPr lang="ru-RU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«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коробки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</a:t>
            </a:r>
            <a:r>
              <a:rPr lang="ru-RU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дают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 balanced accuracy</a:t>
            </a:r>
            <a:r>
              <a:rPr lang="ru-RU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F1.</a:t>
            </a:r>
            <a:endParaRPr lang="en-US" sz="1100" dirty="0"/>
          </a:p>
          <a:p>
            <a:pPr>
              <a:lnSpc>
                <a:spcPts val="1500"/>
              </a:lnSpc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доменной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адаптации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0.5</a:t>
            </a:r>
            <a:r>
              <a:rPr lang="ru-RU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r>
              <a:rPr lang="ru-RU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F1.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0A857B-39D6-CE53-8E4B-586056FFB49A}"/>
              </a:ext>
            </a:extLst>
          </p:cNvPr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FAD12574-2FF1-040E-AEDB-E61F8DE3B91E}"/>
              </a:ext>
            </a:extLst>
          </p:cNvPr>
          <p:cNvSpPr/>
          <p:nvPr/>
        </p:nvSpPr>
        <p:spPr>
          <a:xfrm>
            <a:off x="5669280" y="2583181"/>
            <a:ext cx="3108960" cy="25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абсолютный максимум работы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0795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Композитные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представления TF-IDF ⊕ BERT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объединить лексические и контекстные признаки и оценить эффект.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char n-граммы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разреженный вектор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880360" y="15087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(custom)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доменно адаптированный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эмбеддер, плотный вектор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349240" y="1783080"/>
            <a:ext cx="182880" cy="182880"/>
          </a:xfrm>
          <a:prstGeom prst="rtTriangle">
            <a:avLst/>
          </a:prstGeom>
          <a:solidFill>
            <a:srgbClr val="0B5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15087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0B539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Hybrid-вектор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 LogReg / MLP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114800" cy="192024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на hybrid (custom)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абсолютный максимум работы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Композитное пространство + дообученный эмбеддер дают лучший общий баланс точности и полноты.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4114800" cy="19202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на hybrid (custom)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0.541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почти максимум, при простоте линейной модели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разрыв с MLP: при сильных признаках сложный классификатор почти не нужен.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Сводное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сравнение подходов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конфигурации по каждой метрике, train/test без аугментации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Подход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Cosine-Centroid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(custom)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центроид + cosine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Классические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(custom)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Классические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(n-граммы)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(custom)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Классические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(custom)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лидера зависит от метрики.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accuracy —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Cosine-Centroid (0.578).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композитное пространство Hybrid + дообученный эмбеддер (0.543).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Выводы. Цель достигнута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достигнута: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воспроизводимый пайплайн классификации длинных русскоязычных деловых писем; реализованы и сравнены TF-IDF, BERT и композитные представления; получены метрики на единой выборке.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1376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3360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признаков важнее сложности модели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3360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сильных признаках LinearSVC почти не уступает MLP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0580" y="1965960"/>
            <a:ext cx="41376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3460" y="214884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3" name="Text 11"/>
          <p:cNvSpPr/>
          <p:nvPr/>
        </p:nvSpPr>
        <p:spPr>
          <a:xfrm>
            <a:off x="48234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6380" y="2103120"/>
            <a:ext cx="3360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Доменная адаптация — ключ к BERT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26380" y="2560320"/>
            <a:ext cx="3360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неё BERT-эмбеддинги уступают TF-IDF на узкодоменной задаче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41376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66160"/>
            <a:ext cx="3360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 даёт лучший macro F1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023360"/>
            <a:ext cx="3360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⊕ custom BERT — 0.543, абсолютный максимум работы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0580" y="3429000"/>
            <a:ext cx="41376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3460" y="3611880"/>
            <a:ext cx="365760" cy="36576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3" name="Text 21"/>
          <p:cNvSpPr/>
          <p:nvPr/>
        </p:nvSpPr>
        <p:spPr>
          <a:xfrm>
            <a:off x="48234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6380" y="3566160"/>
            <a:ext cx="3360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 и суммаризация не универсальны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6380" y="4023360"/>
            <a:ext cx="3360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помогают слабым конфигурациям, ухудшают сильные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значимость и перспективы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значимость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прототип пайплайна классификации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Применим для маршрутизации корпоративных писем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Категоризация внутренних документов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расширению за счёт композитных представлений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развития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редких классов и таргетированная аугментация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мощные модели для длинных документов (Longformer)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обучаемые механизмы объединения TF-IDF и BERT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покластерный анализ ошибок по 36 классам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834640" cy="3703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с кодом</a:t>
            </a:r>
            <a:endParaRPr lang="en-US" sz="1300" dirty="0"/>
          </a:p>
        </p:txBody>
      </p:sp>
      <p:pic>
        <p:nvPicPr>
          <p:cNvPr id="10" name="Image 0" descr="/home/user/workspace/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1828800" cy="1828800"/>
          </a:xfrm>
          <a:prstGeom prst="rect">
            <a:avLst/>
          </a:prstGeom>
        </p:spPr>
      </p:pic>
      <p:sp>
        <p:nvSpPr>
          <p:cNvPr id="11" name="Text 8">
            <a:hlinkClick r:id="rId4"/>
          </p:cNvPr>
          <p:cNvSpPr/>
          <p:nvPr/>
        </p:nvSpPr>
        <p:spPr>
          <a:xfrm>
            <a:off x="594360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github.com/sevaTechoPark/mifi-vkr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код, данные и логи экспериментов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1: ссылка на репозиторий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15544</TotalTime>
  <Words>1151</Words>
  <Application>Microsoft Macintosh PowerPoint</Application>
  <PresentationFormat>Экран (16:9)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Пападык В.Д. — защита</dc:title>
  <dc:subject>PptxGenJS Presentation</dc:subject>
  <dc:creator>PptxGenJS</dc:creator>
  <cp:lastModifiedBy>Vsevolod Papadyk</cp:lastModifiedBy>
  <cp:revision>5</cp:revision>
  <dcterms:created xsi:type="dcterms:W3CDTF">2026-05-30T09:41:16Z</dcterms:created>
  <dcterms:modified xsi:type="dcterms:W3CDTF">2026-06-10T09:59:33Z</dcterms:modified>
</cp:coreProperties>
</file>